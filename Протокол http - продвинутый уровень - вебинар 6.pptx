
<file path=[Content_Types].xml><?xml version="1.0" encoding="utf-8"?>
<Types xmlns="http://schemas.openxmlformats.org/package/2006/content-types">
  <Default Extension="svg" ContentType="image/svg+xml"/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4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43.xml" ContentType="application/vnd.openxmlformats-officedocument.presentationml.slide+xml"/>
  <Override PartName="/ppt/slides/slide46.xml" ContentType="application/vnd.openxmlformats-officedocument.presentationml.slide+xml"/>
  <Override PartName="/ppt/slides/slide37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28.xml" ContentType="application/vnd.openxmlformats-officedocument.presentationml.notesSlide+xml"/>
  <Override PartName="/ppt/slides/slide51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4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47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42.xml" ContentType="application/vnd.openxmlformats-officedocument.presentationml.slide+xml"/>
  <Override PartName="/ppt/slides/slide13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44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4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notesSlides/notesSlide47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Slides/notesSlide4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3.xml" ContentType="application/vnd.openxmlformats-officedocument.presentationml.notesSlid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s/slide41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viewProps.xml" ContentType="application/vnd.openxmlformats-officedocument.presentationml.viewProps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s/slide38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7" d="100"/>
          <a:sy n="107" d="100"/>
        </p:scale>
        <p:origin x="612" y="10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 /><Relationship Id="rId57" Type="http://schemas.openxmlformats.org/officeDocument/2006/relationships/tableStyles" Target="tableStyles.xml" /><Relationship Id="rId5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59A441-9971-D977-3EDB-C40BB6DD9ED7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A45C11-2920-806A-E5A0-7333F4BD323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F5840A-D834-694D-A865-23DDEBB7AF2A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C7C74E-E2E1-96A2-FF0C-8827A4715864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BC968C-13B4-0FA4-5C1D-BB6702DD4F47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D932B7-EC20-CE1A-3690-37F36C8373B1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99B88E-6907-65FE-DCF1-B899D585A127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3890E-D657-845D-4485-3ADA2AF1BD1A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3A23F4-35AF-48DA-A536-CD289FD6EF3F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39F3AD-327F-7F52-16D4-ECA8E2CE8F40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D0E2A-5BFC-4711-ED61-18C19241136F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A6B3A5-0AF4-01CF-4707-B6431B501837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665AE4-51BC-1E4F-B3DA-CCF494A4CE77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E3380B-BBA3-0B49-37DF-2D9D94BD6607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68077-73A4-2627-77B0-A6B94FAF4502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9FE07-CF0D-8FA0-D693-E58B084873EC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A87830-77F6-1964-B6FB-5B8D974F9292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789F42-6CA0-DF83-4775-1372AFA5AE54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DAB751-38E7-C8E6-4B66-BD5E9C4767C4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6BBAD6-47FD-E2AD-D75B-A72F492F7613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CD297E-D743-5B05-1FBD-AD0DFC759439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35BA61-43E4-8BC1-ECE5-68D12F0161EB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A0BDC0-6585-952B-B5AD-B9C9A8B7DA86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AE18EB-6997-F418-60AA-58196B4827CA}" type="slidenum">
              <a:rPr/>
              <a:t/>
            </a:fld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2C0433-2E06-24CB-A68B-780CE8C4E1E7}" type="slidenum">
              <a:rPr/>
              <a:t/>
            </a:fld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A8B824-DF88-741B-F1FC-F83F3A1D72DE}" type="slidenum">
              <a:rPr/>
              <a:t/>
            </a:fld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4E96BE-2FDD-DDD9-A02F-E31C07BA6090}" type="slidenum">
              <a:rPr/>
              <a:t/>
            </a:fld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AE8984-C781-AC44-78A4-CF969CAA3EF6}" type="slidenum">
              <a:rPr/>
              <a:t/>
            </a:fld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808351-AC8D-6E29-75AE-75D509FA762F}" type="slidenum">
              <a:rPr/>
              <a:t/>
            </a:fld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8937D5-1339-30EC-A137-764FC57BA689}" type="slidenum">
              <a:rPr/>
              <a:t/>
            </a:fld>
            <a:endParaRPr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45905A-977C-DC82-1CB4-A3886DE4FFFE}" type="slidenum">
              <a:rPr/>
              <a:t/>
            </a:fld>
            <a:endParaRPr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95B845-B233-6710-19F9-B52C20F2CA27}" type="slidenum">
              <a:rPr/>
              <a:t/>
            </a:fld>
            <a:endParaRPr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D22F2F-5D33-F7A7-91EC-0FB49744D31B}" type="slidenum">
              <a:rPr/>
              <a:t/>
            </a:fld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40298-F179-23E8-A114-1ED0428B5988}" type="slidenum">
              <a:rPr/>
              <a:t/>
            </a:fld>
            <a:endParaRPr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3A4D5-9FE9-C75F-F773-AC5E9732A1F9}" type="slidenum">
              <a:rPr/>
              <a:t/>
            </a:fld>
            <a:endParaRPr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5566C6-BEA1-0852-A494-6AF6E8FBA0D7}" type="slidenum">
              <a:rPr/>
              <a:t/>
            </a:fld>
            <a:endParaRPr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0A7629-1483-B147-A3CC-FF4805730251}" type="slidenum">
              <a:rPr/>
              <a:t/>
            </a:fld>
            <a:endParaRPr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8F979C-667E-6DA2-4B4B-A0CF8859E6F0}" type="slidenum">
              <a:rPr/>
              <a:t/>
            </a:fld>
            <a:endParaRPr/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DB5F4A-1966-35A0-1D45-96963F7344FC}" type="slidenum">
              <a:rPr/>
              <a:t/>
            </a:fld>
            <a:endParaRPr/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AE0B3A-D455-81BC-9F7C-9B6782F5DCB3}" type="slidenum">
              <a:rPr/>
              <a:t/>
            </a:fld>
            <a:endParaRPr/>
          </a:p>
        </p:txBody>
      </p:sp>
    </p:spTree>
  </p:cSld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7D3581-CF6B-A55B-57A7-9767A68421A5}" type="slidenum">
              <a:rPr/>
              <a:t/>
            </a:fld>
            <a:endParaRPr/>
          </a:p>
        </p:txBody>
      </p:sp>
    </p:spTree>
  </p:cSld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A736D6-C438-5C49-7F9B-B5747ACF3AD6}" type="slidenum">
              <a:rPr/>
              <a:t/>
            </a:fld>
            <a:endParaRPr/>
          </a:p>
        </p:txBody>
      </p:sp>
    </p:spTree>
  </p:cSld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6D57A3-2AB6-C511-1310-EA5BF8C3C642}" type="slidenum">
              <a:rPr/>
              <a:t/>
            </a:fld>
            <a:endParaRPr/>
          </a:p>
        </p:txBody>
      </p:sp>
    </p:spTree>
  </p:cSld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D128E6-A572-76E7-835A-6FE886FB20C5}" type="slidenum">
              <a:rPr/>
              <a:t/>
            </a:fld>
            <a:endParaRPr/>
          </a:p>
        </p:txBody>
      </p:sp>
    </p:spTree>
  </p:cSld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0076AD-BFD6-E83C-59A9-78014F682030}" type="slidenum">
              <a:rPr/>
              <a:t/>
            </a:fld>
            <a:endParaRPr/>
          </a:p>
        </p:txBody>
      </p:sp>
    </p:spTree>
  </p:cSld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ACFEA2-7174-3EE6-64F0-83C113D1A1E2}" type="slidenum">
              <a:rPr/>
              <a:t/>
            </a:fld>
            <a:endParaRPr/>
          </a:p>
        </p:txBody>
      </p:sp>
    </p:spTree>
  </p:cSld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BAB2AA-01FD-A192-C368-370E1540B516}" type="slidenum">
              <a:rPr/>
              <a:t/>
            </a:fld>
            <a:endParaRPr/>
          </a:p>
        </p:txBody>
      </p:sp>
    </p:spTree>
  </p:cSld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1B8AC4-E9B0-6B05-C16A-6918BB6D86CF}" type="slidenum">
              <a:rPr/>
              <a:t/>
            </a:fld>
            <a:endParaRPr/>
          </a:p>
        </p:txBody>
      </p:sp>
    </p:spTree>
  </p:cSld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09788-B6F1-55E8-472A-9B66C169D942}" type="slidenum">
              <a:rPr/>
              <a:t/>
            </a:fld>
            <a:endParaRPr/>
          </a:p>
        </p:txBody>
      </p:sp>
    </p:spTree>
  </p:cSld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D2CAC6-3753-CA57-D364-2BF004F30890}" type="slidenum">
              <a:rPr/>
              <a:t/>
            </a:fld>
            <a:endParaRPr/>
          </a:p>
        </p:txBody>
      </p:sp>
    </p:spTree>
  </p:cSld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DED401-94C7-9D73-6468-0423E86052DA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/>
          <p:cNvSpPr/>
          <p:nvPr userDrawn="1"/>
        </p:nvSpPr>
        <p:spPr bwMode="auto">
          <a:xfrm>
            <a:off x="1523998" y="4272895"/>
            <a:ext cx="9144001" cy="984903"/>
          </a:xfrm>
          <a:prstGeom prst="roundRect">
            <a:avLst>
              <a:gd name="adj" fmla="val 6352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3005256"/>
          </a:xfrm>
        </p:spPr>
        <p:txBody>
          <a:bodyPr anchor="b"/>
          <a:lstStyle>
            <a:lvl1pPr algn="l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4272896"/>
            <a:ext cx="9144000" cy="98490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095DB7F-449A-44F0-902B-A190112558AC}" type="datetimeFigureOut">
              <a:rPr lang="ru-RU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8E931EF-754F-485E-9C30-D04F001BA73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/>
          <p:cNvSpPr/>
          <p:nvPr userDrawn="1"/>
        </p:nvSpPr>
        <p:spPr bwMode="auto">
          <a:xfrm>
            <a:off x="838198" y="365125"/>
            <a:ext cx="10515600" cy="643279"/>
          </a:xfrm>
          <a:prstGeom prst="roundRect">
            <a:avLst>
              <a:gd name="adj" fmla="val 6352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43279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187865"/>
            <a:ext cx="10515600" cy="498909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095DB7F-449A-44F0-902B-A190112558AC}" type="datetimeFigureOut">
              <a:rPr lang="ru-RU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8E931EF-754F-485E-9C30-D04F001BA73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187865"/>
            <a:ext cx="5181600" cy="498909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187865"/>
            <a:ext cx="5181600" cy="498909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095DB7F-449A-44F0-902B-A190112558AC}" type="datetimeFigureOut">
              <a:rPr lang="ru-RU"/>
              <a:t>15.07.2026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8E931EF-754F-485E-9C30-D04F001BA739}" type="slidenum">
              <a:rPr lang="ru-RU"/>
              <a:t>‹#›</a:t>
            </a:fld>
            <a:endParaRPr lang="ru-RU"/>
          </a:p>
        </p:txBody>
      </p:sp>
      <p:sp>
        <p:nvSpPr>
          <p:cNvPr id="8" name="Прямоугольник: скругленные углы 7"/>
          <p:cNvSpPr/>
          <p:nvPr userDrawn="1"/>
        </p:nvSpPr>
        <p:spPr bwMode="auto">
          <a:xfrm>
            <a:off x="838198" y="365125"/>
            <a:ext cx="10515600" cy="643279"/>
          </a:xfrm>
          <a:prstGeom prst="roundRect">
            <a:avLst>
              <a:gd name="adj" fmla="val 6352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43279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095DB7F-449A-44F0-902B-A190112558AC}" type="datetimeFigureOut">
              <a:rPr lang="ru-RU"/>
              <a:t>15.07.2026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8E931EF-754F-485E-9C30-D04F001BA739}" type="slidenum">
              <a:rPr lang="ru-RU"/>
              <a:t>‹#›</a:t>
            </a:fld>
            <a:endParaRPr lang="ru-RU"/>
          </a:p>
        </p:txBody>
      </p:sp>
      <p:sp>
        <p:nvSpPr>
          <p:cNvPr id="6" name="Прямоугольник: скругленные углы 5"/>
          <p:cNvSpPr/>
          <p:nvPr userDrawn="1"/>
        </p:nvSpPr>
        <p:spPr bwMode="auto">
          <a:xfrm>
            <a:off x="838198" y="365125"/>
            <a:ext cx="10515600" cy="643279"/>
          </a:xfrm>
          <a:prstGeom prst="roundRect">
            <a:avLst>
              <a:gd name="adj" fmla="val 6352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43279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095DB7F-449A-44F0-902B-A190112558AC}" type="datetimeFigureOut">
              <a:rPr lang="ru-RU"/>
              <a:t>15.07.2026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8E931EF-754F-485E-9C30-D04F001BA73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095DB7F-449A-44F0-902B-A190112558AC}" type="datetimeFigureOut">
              <a:rPr lang="ru-RU"/>
              <a:t>15.07.2026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8E931EF-754F-485E-9C30-D04F001BA739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/>
          <p:cNvSpPr/>
          <p:nvPr userDrawn="1"/>
        </p:nvSpPr>
        <p:spPr bwMode="auto">
          <a:xfrm>
            <a:off x="0" y="6176963"/>
            <a:ext cx="12192000" cy="150530"/>
          </a:xfrm>
          <a:prstGeom prst="roundRect">
            <a:avLst>
              <a:gd name="adj" fmla="val 6352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6095DB7F-449A-44F0-902B-A190112558AC}" type="datetimeFigureOut">
              <a:rPr lang="ru-RU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B8E931EF-754F-485E-9C30-D04F001BA739}" type="slidenum">
              <a:rPr lang="ru-RU"/>
              <a:t>‹#›</a:t>
            </a:fld>
            <a:endParaRPr lang="ru-RU"/>
          </a:p>
        </p:txBody>
      </p:sp>
      <p:sp>
        <p:nvSpPr>
          <p:cNvPr id="16" name="Прямоугольник: скругленные верхние углы 15"/>
          <p:cNvSpPr/>
          <p:nvPr userDrawn="1"/>
        </p:nvSpPr>
        <p:spPr bwMode="auto">
          <a:xfrm rot="16199999">
            <a:off x="9615778" y="2012866"/>
            <a:ext cx="4520059" cy="63239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Прямоугольник: скругленные верхние углы 16"/>
          <p:cNvSpPr/>
          <p:nvPr userDrawn="1"/>
        </p:nvSpPr>
        <p:spPr bwMode="auto">
          <a:xfrm rot="5400000">
            <a:off x="-1144727" y="2970347"/>
            <a:ext cx="2511640" cy="22219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8"/>
          <a:srcRect l="0" t="0" r="53023" b="0"/>
          <a:stretch/>
        </p:blipFill>
        <p:spPr bwMode="auto">
          <a:xfrm>
            <a:off x="19239" y="0"/>
            <a:ext cx="818961" cy="3953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Arial"/>
          <a:ea typeface="+mn-ea"/>
          <a:cs typeface="Arial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media1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www.jwt.io/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hyperlink" Target="https://www.jwt.io/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hyperlink" Target="https://www.jwt.io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www.jwt.io/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hyperlink" Target="https://www.jwt.io/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infostart.ru/1c/articles/2480616/" TargetMode="Externa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infostart.ru/1c/articles/2016164/" TargetMode="External"/><Relationship Id="rId4" Type="http://schemas.openxmlformats.org/officeDocument/2006/relationships/hyperlink" Target="https://github.com/vbondarevsky/Connector" TargetMode="External"/><Relationship Id="rId5" Type="http://schemas.openxmlformats.org/officeDocument/2006/relationships/hyperlink" Target="https://bia-technologies.github.io/yaxunit/" TargetMode="Externa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Вопросы безопасности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300"/>
              <a:t>Механизмы интеграции: Протокол </a:t>
            </a:r>
            <a:r>
              <a:rPr lang="en-US" sz="2300"/>
              <a:t>HTTP</a:t>
            </a:r>
            <a:r>
              <a:rPr lang="ru-RU" sz="2300"/>
              <a:t>, продвинутый уровень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Порядок проведения курса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На вебинарах изучаем теорию и смотрим практические примеры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В рамках домашних задачи пробуем решить задачи с этими приемами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На следующем вебинаре разбираем вопросы по домашке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В конце курса итоговый тест по материалам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Проведение вебинара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Длительность 2 часа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Активно слушайте, задавайте вопросы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Относитесь уважительно к вопросам и комментариям других участников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200"/>
              <a:t>Вопросы по предыдущим вебинарам</a:t>
            </a:r>
            <a:endParaRPr/>
          </a:p>
        </p:txBody>
      </p:sp>
      <p:pic>
        <p:nvPicPr>
          <p:cNvPr id="7" name="Объект 6" descr="Проектор со сплошной заливкой"/>
          <p:cNvPicPr>
            <a:picLocks noChangeAspect="1" noGrp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4917141" y="2250141"/>
            <a:ext cx="2357718" cy="2357718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План вебинара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/>
              <a:t>JWT – </a:t>
            </a:r>
            <a:r>
              <a:rPr lang="ru-RU"/>
              <a:t>токены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Аутентификация алгоритмом на встроенном языке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Распределенные </a:t>
            </a:r>
            <a:r>
              <a:rPr lang="ru-RU"/>
              <a:t>транзакции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Ответы на вопросы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Риски информационной безопасности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На вебинаре рассматриваем демонстрационные примеры, напрямую не следует использовать в продуктивной среде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При реализации любого механизма, связанного с безопасностью, аутентификацией и правами доступа максимально включаем критическое мышление т.к. эти механизмы первый вектор атаки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JWT – </a:t>
            </a:r>
            <a:r>
              <a:rPr lang="ru-RU"/>
              <a:t>токены</a:t>
            </a:r>
            <a:endParaRPr lang="en-US"/>
          </a:p>
        </p:txBody>
      </p:sp>
      <p:pic>
        <p:nvPicPr>
          <p:cNvPr id="7" name="Объект 6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1898274" y="1187450"/>
            <a:ext cx="8395452" cy="4989513"/>
          </a:xfrm>
          <a:prstGeom prst="rect">
            <a:avLst/>
          </a:prstGeom>
        </p:spPr>
      </p:pic>
      <p:sp>
        <p:nvSpPr>
          <p:cNvPr id="8" name="Прямоугольник: скругленные углы 7"/>
          <p:cNvSpPr/>
          <p:nvPr/>
        </p:nvSpPr>
        <p:spPr bwMode="auto">
          <a:xfrm>
            <a:off x="6194612" y="1550894"/>
            <a:ext cx="4099114" cy="83371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Прямоугольник: скругленные углы 8"/>
          <p:cNvSpPr/>
          <p:nvPr/>
        </p:nvSpPr>
        <p:spPr bwMode="auto">
          <a:xfrm>
            <a:off x="6194612" y="3012140"/>
            <a:ext cx="4099114" cy="135367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Прямоугольник: скругленные углы 9"/>
          <p:cNvSpPr/>
          <p:nvPr/>
        </p:nvSpPr>
        <p:spPr bwMode="auto">
          <a:xfrm>
            <a:off x="6194612" y="5154706"/>
            <a:ext cx="4099114" cy="74407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12" name="Прямая со стрелкой 11"/>
          <p:cNvCxnSpPr>
            <a:cxnSpLocks/>
          </p:cNvCxnSpPr>
          <p:nvPr/>
        </p:nvCxnSpPr>
        <p:spPr bwMode="auto">
          <a:xfrm>
            <a:off x="4643718" y="2259106"/>
            <a:ext cx="1452282" cy="326763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cxnSpLocks/>
          </p:cNvCxnSpPr>
          <p:nvPr/>
        </p:nvCxnSpPr>
        <p:spPr bwMode="auto">
          <a:xfrm>
            <a:off x="4742329" y="1797299"/>
            <a:ext cx="1452283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 bwMode="auto">
          <a:xfrm>
            <a:off x="4939553" y="2160494"/>
            <a:ext cx="1156447" cy="15217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 bwMode="auto">
          <a:xfrm>
            <a:off x="838200" y="6355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u="sng">
                <a:hlinkClick r:id="rId4" tooltip="https://www.jwt.io/"/>
              </a:rPr>
              <a:t>https://www.jwt.io/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JWT – </a:t>
            </a:r>
            <a:r>
              <a:rPr lang="ru-RU"/>
              <a:t>токен (Заголовок / </a:t>
            </a:r>
            <a:r>
              <a:rPr lang="en-US"/>
              <a:t>Header)</a:t>
            </a:r>
            <a:endParaRPr/>
          </a:p>
        </p:txBody>
      </p:sp>
      <p:pic>
        <p:nvPicPr>
          <p:cNvPr id="7" name="Объект 6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1898274" y="1187450"/>
            <a:ext cx="8395452" cy="4989513"/>
          </a:xfrm>
          <a:prstGeom prst="rect">
            <a:avLst/>
          </a:prstGeom>
        </p:spPr>
      </p:pic>
      <p:sp>
        <p:nvSpPr>
          <p:cNvPr id="8" name="Прямоугольник: скругленные углы 7"/>
          <p:cNvSpPr/>
          <p:nvPr/>
        </p:nvSpPr>
        <p:spPr bwMode="auto">
          <a:xfrm>
            <a:off x="6194612" y="1550894"/>
            <a:ext cx="4099114" cy="83371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13" name="Прямая со стрелкой 12"/>
          <p:cNvCxnSpPr>
            <a:cxnSpLocks/>
          </p:cNvCxnSpPr>
          <p:nvPr/>
        </p:nvCxnSpPr>
        <p:spPr bwMode="auto">
          <a:xfrm>
            <a:off x="4742329" y="1797299"/>
            <a:ext cx="1452283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 bwMode="auto">
          <a:xfrm>
            <a:off x="838200" y="6355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u="sng">
                <a:hlinkClick r:id="rId4" tooltip="https://www.jwt.io/"/>
              </a:rPr>
              <a:t>https://www.jwt.io/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JWT – </a:t>
            </a:r>
            <a:r>
              <a:rPr lang="ru-RU"/>
              <a:t>токен</a:t>
            </a:r>
            <a:r>
              <a:rPr lang="en-US"/>
              <a:t> (</a:t>
            </a:r>
            <a:r>
              <a:rPr lang="ru-RU"/>
              <a:t>Тело / </a:t>
            </a:r>
            <a:r>
              <a:rPr lang="en-US"/>
              <a:t>Payload)</a:t>
            </a:r>
            <a:endParaRPr/>
          </a:p>
        </p:txBody>
      </p:sp>
      <p:pic>
        <p:nvPicPr>
          <p:cNvPr id="7" name="Объект 6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1898274" y="1187450"/>
            <a:ext cx="8395452" cy="4989513"/>
          </a:xfrm>
          <a:prstGeom prst="rect">
            <a:avLst/>
          </a:prstGeom>
        </p:spPr>
      </p:pic>
      <p:sp>
        <p:nvSpPr>
          <p:cNvPr id="9" name="Прямоугольник: скругленные углы 8"/>
          <p:cNvSpPr/>
          <p:nvPr/>
        </p:nvSpPr>
        <p:spPr bwMode="auto">
          <a:xfrm>
            <a:off x="6194612" y="3012140"/>
            <a:ext cx="4099114" cy="135367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15" name="Прямая со стрелкой 14"/>
          <p:cNvCxnSpPr>
            <a:cxnSpLocks/>
          </p:cNvCxnSpPr>
          <p:nvPr/>
        </p:nvCxnSpPr>
        <p:spPr bwMode="auto">
          <a:xfrm>
            <a:off x="4939553" y="2160494"/>
            <a:ext cx="1156447" cy="15217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 bwMode="auto">
          <a:xfrm>
            <a:off x="838200" y="6355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u="sng">
                <a:hlinkClick r:id="rId4" tooltip="https://www.jwt.io/"/>
              </a:rPr>
              <a:t>https://www.jwt.io/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JWT – </a:t>
            </a:r>
            <a:r>
              <a:rPr lang="ru-RU"/>
              <a:t>токен</a:t>
            </a:r>
            <a:r>
              <a:rPr lang="en-US"/>
              <a:t> (</a:t>
            </a:r>
            <a:r>
              <a:rPr lang="ru-RU"/>
              <a:t>Тело / </a:t>
            </a:r>
            <a:r>
              <a:rPr lang="en-US"/>
              <a:t>Payload)</a:t>
            </a:r>
            <a:endParaRPr/>
          </a:p>
        </p:txBody>
      </p:sp>
      <p:pic>
        <p:nvPicPr>
          <p:cNvPr id="7" name="Объект 6"/>
          <p:cNvPicPr>
            <a:picLocks noChangeAspect="1" noGrp="1"/>
          </p:cNvPicPr>
          <p:nvPr>
            <p:ph idx="1"/>
          </p:nvPr>
        </p:nvPicPr>
        <p:blipFill>
          <a:blip r:embed="rId3"/>
          <a:srcRect l="50854" t="0" r="0" b="0"/>
          <a:stretch/>
        </p:blipFill>
        <p:spPr bwMode="auto">
          <a:xfrm>
            <a:off x="6167718" y="1187450"/>
            <a:ext cx="4126008" cy="4989513"/>
          </a:xfrm>
          <a:prstGeom prst="rect">
            <a:avLst/>
          </a:prstGeom>
        </p:spPr>
      </p:pic>
      <p:sp>
        <p:nvSpPr>
          <p:cNvPr id="3" name="Объект 2"/>
          <p:cNvSpPr txBox="1"/>
          <p:nvPr/>
        </p:nvSpPr>
        <p:spPr bwMode="auto">
          <a:xfrm>
            <a:off x="838200" y="1187865"/>
            <a:ext cx="5257800" cy="4989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/>
              <a:t>iss</a:t>
            </a:r>
            <a:r>
              <a:rPr lang="en-US" sz="2400"/>
              <a:t> (issuer): </a:t>
            </a:r>
            <a:r>
              <a:rPr lang="ru-RU" sz="2400"/>
              <a:t>Издатель токена</a:t>
            </a:r>
            <a:endParaRPr/>
          </a:p>
          <a:p>
            <a:pPr>
              <a:defRPr/>
            </a:pPr>
            <a:r>
              <a:rPr lang="en-US" sz="2400"/>
              <a:t>sub (subject): </a:t>
            </a:r>
            <a:r>
              <a:rPr lang="ru-RU" sz="2400"/>
              <a:t>Идентификатор пользователя</a:t>
            </a:r>
            <a:endParaRPr/>
          </a:p>
          <a:p>
            <a:pPr>
              <a:defRPr/>
            </a:pPr>
            <a:r>
              <a:rPr lang="en-US" sz="2400"/>
              <a:t>aud</a:t>
            </a:r>
            <a:r>
              <a:rPr lang="en-US" sz="2400"/>
              <a:t> (audience): </a:t>
            </a:r>
            <a:r>
              <a:rPr lang="ru-RU" sz="2400"/>
              <a:t>Идентификатор системы получателя</a:t>
            </a:r>
            <a:endParaRPr/>
          </a:p>
          <a:p>
            <a:pPr>
              <a:defRPr/>
            </a:pPr>
            <a:r>
              <a:rPr lang="en-US" sz="2400"/>
              <a:t>exp (expiration time): </a:t>
            </a:r>
            <a:r>
              <a:rPr lang="ru-RU" sz="2400"/>
              <a:t>Дата истечения токена (валиден до)</a:t>
            </a:r>
            <a:endParaRPr/>
          </a:p>
          <a:p>
            <a:pPr>
              <a:defRPr/>
            </a:pPr>
            <a:r>
              <a:rPr lang="en-US" sz="2400"/>
              <a:t>nbf</a:t>
            </a:r>
            <a:r>
              <a:rPr lang="en-US" sz="2400"/>
              <a:t> (not before time): </a:t>
            </a:r>
            <a:r>
              <a:rPr lang="ru-RU" sz="2400"/>
              <a:t>Дата начала действия токена (валиден с)</a:t>
            </a:r>
            <a:endParaRPr/>
          </a:p>
          <a:p>
            <a:pPr>
              <a:defRPr/>
            </a:pPr>
            <a:r>
              <a:rPr lang="en-US" sz="2400"/>
              <a:t>iat</a:t>
            </a:r>
            <a:r>
              <a:rPr lang="en-US" sz="2400"/>
              <a:t> (issued at time): </a:t>
            </a:r>
            <a:r>
              <a:rPr lang="ru-RU" sz="2400"/>
              <a:t>Дата выпуска токена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838200" y="6355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u="sng">
                <a:hlinkClick r:id="rId4" tooltip="https://www.jwt.io/"/>
              </a:rPr>
              <a:t>https://www.jwt.io/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JWT – </a:t>
            </a:r>
            <a:r>
              <a:rPr lang="ru-RU"/>
              <a:t>токен</a:t>
            </a:r>
            <a:r>
              <a:rPr lang="en-US"/>
              <a:t> (</a:t>
            </a:r>
            <a:r>
              <a:rPr lang="ru-RU"/>
              <a:t>Подпись / </a:t>
            </a:r>
            <a:r>
              <a:rPr lang="en-US"/>
              <a:t>Signature)</a:t>
            </a:r>
            <a:endParaRPr/>
          </a:p>
        </p:txBody>
      </p:sp>
      <p:pic>
        <p:nvPicPr>
          <p:cNvPr id="7" name="Объект 6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1898274" y="1187450"/>
            <a:ext cx="8395452" cy="4989513"/>
          </a:xfrm>
          <a:prstGeom prst="rect">
            <a:avLst/>
          </a:prstGeom>
        </p:spPr>
      </p:pic>
      <p:sp>
        <p:nvSpPr>
          <p:cNvPr id="10" name="Прямоугольник: скругленные углы 9"/>
          <p:cNvSpPr/>
          <p:nvPr/>
        </p:nvSpPr>
        <p:spPr bwMode="auto">
          <a:xfrm>
            <a:off x="6194612" y="5154706"/>
            <a:ext cx="4099114" cy="74407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12" name="Прямая со стрелкой 11"/>
          <p:cNvCxnSpPr>
            <a:cxnSpLocks/>
          </p:cNvCxnSpPr>
          <p:nvPr/>
        </p:nvCxnSpPr>
        <p:spPr bwMode="auto">
          <a:xfrm>
            <a:off x="4643718" y="2259106"/>
            <a:ext cx="1452282" cy="326763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 bwMode="auto">
          <a:xfrm>
            <a:off x="838200" y="6355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u="sng">
                <a:hlinkClick r:id="rId4" tooltip="https://www.jwt.io/"/>
              </a:rPr>
              <a:t>https://www.jwt.io/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Подготовка информационной базы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Флажок пользователя «Аутентификация токеном доступа»</a:t>
            </a:r>
            <a:endParaRPr/>
          </a:p>
          <a:p>
            <a:pPr>
              <a:defRPr/>
            </a:pPr>
            <a:r>
              <a:rPr lang="ru-RU"/>
              <a:t>Элемент «</a:t>
            </a:r>
            <a:r>
              <a:rPr lang="en-US"/>
              <a:t>accessTokenAuthentication</a:t>
            </a:r>
            <a:r>
              <a:rPr lang="ru-RU"/>
              <a:t>» в </a:t>
            </a:r>
            <a:r>
              <a:rPr lang="en-US"/>
              <a:t>default.vrd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Способы использования токена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Запуск тонкого клиента</a:t>
            </a:r>
            <a:endParaRPr/>
          </a:p>
          <a:p>
            <a:pPr lvl="1">
              <a:defRPr/>
            </a:pPr>
            <a:r>
              <a:rPr lang="en-US"/>
              <a:t> </a:t>
            </a:r>
            <a:r>
              <a:rPr lang="en-US" b="1">
                <a:latin typeface="Courier New"/>
                <a:cs typeface="Courier New"/>
              </a:rPr>
              <a:t>/</a:t>
            </a:r>
            <a:r>
              <a:rPr lang="en-US" b="1">
                <a:latin typeface="Courier New"/>
                <a:cs typeface="Courier New"/>
              </a:rPr>
              <a:t>AccessToken</a:t>
            </a:r>
            <a:r>
              <a:rPr lang="en-US" b="1">
                <a:latin typeface="Courier New"/>
                <a:cs typeface="Courier New"/>
              </a:rPr>
              <a:t> Token</a:t>
            </a:r>
            <a:endParaRPr lang="ru-RU" b="1">
              <a:latin typeface="Courier New"/>
              <a:cs typeface="Courier New"/>
            </a:endParaRPr>
          </a:p>
          <a:p>
            <a:pPr>
              <a:defRPr/>
            </a:pPr>
            <a:r>
              <a:rPr lang="ru-RU"/>
              <a:t>Запуск веб-клиента</a:t>
            </a:r>
            <a:endParaRPr/>
          </a:p>
          <a:p>
            <a:pPr lvl="1">
              <a:defRPr/>
            </a:pPr>
            <a:r>
              <a:rPr lang="en-US" b="1">
                <a:latin typeface="Courier New"/>
                <a:cs typeface="Courier New"/>
              </a:rPr>
              <a:t>uri?AccessToken</a:t>
            </a:r>
            <a:r>
              <a:rPr lang="en-US" b="1">
                <a:latin typeface="Courier New"/>
                <a:cs typeface="Courier New"/>
              </a:rPr>
              <a:t>=Token</a:t>
            </a:r>
            <a:endParaRPr lang="ru-RU" b="1">
              <a:latin typeface="Courier New"/>
              <a:cs typeface="Courier New"/>
            </a:endParaRPr>
          </a:p>
          <a:p>
            <a:pPr>
              <a:defRPr/>
            </a:pPr>
            <a:r>
              <a:rPr lang="ru-RU"/>
              <a:t>Вызов веб-сервисов* и </a:t>
            </a:r>
            <a:r>
              <a:rPr lang="en-US"/>
              <a:t>http-</a:t>
            </a:r>
            <a:r>
              <a:rPr lang="ru-RU"/>
              <a:t>сервисов</a:t>
            </a:r>
            <a:endParaRPr lang="en-US"/>
          </a:p>
          <a:p>
            <a:pPr lvl="1">
              <a:defRPr/>
            </a:pPr>
            <a:r>
              <a:rPr lang="ru-RU"/>
              <a:t>Заголовок </a:t>
            </a:r>
            <a:r>
              <a:rPr lang="ru-RU" b="1">
                <a:latin typeface="Courier New"/>
                <a:cs typeface="Courier New"/>
              </a:rPr>
              <a:t>«</a:t>
            </a:r>
            <a:r>
              <a:rPr lang="en-US" b="1">
                <a:latin typeface="Courier New"/>
                <a:cs typeface="Courier New"/>
              </a:rPr>
              <a:t>Authorization: Bearer Token</a:t>
            </a:r>
            <a:r>
              <a:rPr lang="ru-RU" b="1">
                <a:latin typeface="Courier New"/>
                <a:cs typeface="Courier New"/>
              </a:rPr>
              <a:t>»</a:t>
            </a:r>
            <a:endParaRPr/>
          </a:p>
          <a:p>
            <a:pPr lvl="1">
              <a:defRPr/>
            </a:pPr>
            <a:endParaRPr lang="ru-RU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ru-RU"/>
              <a:t>* Веб-сервисы с передачей токена нельзя вызвать через </a:t>
            </a:r>
            <a:r>
              <a:rPr lang="en-US"/>
              <a:t>WS-</a:t>
            </a:r>
            <a:r>
              <a:rPr lang="ru-RU"/>
              <a:t>прокси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Настройка </a:t>
            </a:r>
            <a:r>
              <a:rPr lang="en-US"/>
              <a:t>default.vrd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Флажок пользователя «Аутентификация токеном доступа»</a:t>
            </a:r>
            <a:endParaRPr/>
          </a:p>
          <a:p>
            <a:pPr>
              <a:defRPr/>
            </a:pPr>
            <a:r>
              <a:rPr lang="ru-RU"/>
              <a:t>Элемент «</a:t>
            </a:r>
            <a:r>
              <a:rPr lang="en-US"/>
              <a:t>accessTokenAuthentication</a:t>
            </a:r>
            <a:r>
              <a:rPr lang="ru-RU"/>
              <a:t>» в </a:t>
            </a:r>
            <a:r>
              <a:rPr lang="en-US"/>
              <a:t>default.vrd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Настройка </a:t>
            </a:r>
            <a:r>
              <a:rPr lang="en-US"/>
              <a:t>default.vrd</a:t>
            </a:r>
            <a:endParaRPr lang="en-US"/>
          </a:p>
        </p:txBody>
      </p:sp>
      <p:pic>
        <p:nvPicPr>
          <p:cNvPr id="5" name="Объект 4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5656729" y="2198726"/>
            <a:ext cx="5697071" cy="251670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35088" y="2497550"/>
            <a:ext cx="4620270" cy="2038634"/>
          </a:xfrm>
          <a:prstGeom prst="rect">
            <a:avLst/>
          </a:prstGeom>
        </p:spPr>
      </p:pic>
      <p:sp>
        <p:nvSpPr>
          <p:cNvPr id="8" name="Прямоугольник: скругленные углы 7"/>
          <p:cNvSpPr/>
          <p:nvPr/>
        </p:nvSpPr>
        <p:spPr bwMode="auto">
          <a:xfrm>
            <a:off x="2178424" y="3227294"/>
            <a:ext cx="1021976" cy="20170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Прямоугольник: скругленные углы 8"/>
          <p:cNvSpPr/>
          <p:nvPr/>
        </p:nvSpPr>
        <p:spPr bwMode="auto">
          <a:xfrm>
            <a:off x="6553200" y="4061012"/>
            <a:ext cx="995082" cy="20618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Прямоугольник: скругленные углы 9"/>
          <p:cNvSpPr/>
          <p:nvPr/>
        </p:nvSpPr>
        <p:spPr bwMode="auto">
          <a:xfrm>
            <a:off x="3065930" y="2698815"/>
            <a:ext cx="528917" cy="20170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Прямоугольник: скругленные углы 10"/>
          <p:cNvSpPr/>
          <p:nvPr/>
        </p:nvSpPr>
        <p:spPr bwMode="auto">
          <a:xfrm>
            <a:off x="6553200" y="3859306"/>
            <a:ext cx="528917" cy="20170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Прямоугольник: скругленные углы 11"/>
          <p:cNvSpPr/>
          <p:nvPr/>
        </p:nvSpPr>
        <p:spPr bwMode="auto">
          <a:xfrm>
            <a:off x="6024283" y="3264145"/>
            <a:ext cx="528917" cy="20170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" name="Прямоугольник: скругленные углы 12"/>
          <p:cNvSpPr/>
          <p:nvPr/>
        </p:nvSpPr>
        <p:spPr bwMode="auto">
          <a:xfrm>
            <a:off x="3567954" y="3416014"/>
            <a:ext cx="528917" cy="20170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15" name="Прямая со стрелкой 14"/>
          <p:cNvCxnSpPr>
            <a:cxnSpLocks/>
            <a:stCxn id="10" idx="3"/>
            <a:endCxn id="11" idx="1"/>
          </p:cNvCxnSpPr>
          <p:nvPr/>
        </p:nvCxnSpPr>
        <p:spPr bwMode="auto">
          <a:xfrm>
            <a:off x="3594847" y="2799668"/>
            <a:ext cx="2958353" cy="116049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cxnSpLocks/>
            <a:stCxn id="8" idx="3"/>
            <a:endCxn id="9" idx="1"/>
          </p:cNvCxnSpPr>
          <p:nvPr/>
        </p:nvCxnSpPr>
        <p:spPr bwMode="auto">
          <a:xfrm>
            <a:off x="3200400" y="3328147"/>
            <a:ext cx="3352800" cy="83595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cxnSpLocks/>
            <a:stCxn id="13" idx="3"/>
            <a:endCxn id="12" idx="1"/>
          </p:cNvCxnSpPr>
          <p:nvPr/>
        </p:nvCxnSpPr>
        <p:spPr bwMode="auto">
          <a:xfrm flipV="1">
            <a:off x="4096871" y="3364998"/>
            <a:ext cx="1927412" cy="15186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Проверка токена платформой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Подпись соответствует содержимому</a:t>
            </a:r>
            <a:endParaRPr/>
          </a:p>
          <a:p>
            <a:pPr>
              <a:defRPr/>
            </a:pPr>
            <a:r>
              <a:rPr lang="ru-RU"/>
              <a:t>Время жизни токена позволяет использование</a:t>
            </a:r>
            <a:endParaRPr/>
          </a:p>
          <a:p>
            <a:pPr>
              <a:defRPr/>
            </a:pPr>
            <a:r>
              <a:rPr lang="ru-RU"/>
              <a:t>Сверка </a:t>
            </a:r>
            <a:r>
              <a:rPr lang="en-US"/>
              <a:t>aud</a:t>
            </a:r>
            <a:r>
              <a:rPr lang="en-US"/>
              <a:t> c </a:t>
            </a:r>
            <a:r>
              <a:rPr lang="ru-RU"/>
              <a:t>параметрами публикации</a:t>
            </a:r>
            <a:endParaRPr/>
          </a:p>
          <a:p>
            <a:pPr>
              <a:defRPr/>
            </a:pPr>
            <a:r>
              <a:rPr lang="ru-RU"/>
              <a:t>Поиск пользователя на </a:t>
            </a:r>
            <a:r>
              <a:rPr lang="en-US"/>
              <a:t>authenticationClaimName</a:t>
            </a:r>
            <a:r>
              <a:rPr lang="ru-RU"/>
              <a:t> и </a:t>
            </a:r>
            <a:r>
              <a:rPr lang="en-US"/>
              <a:t>authenticationUserPropertyName</a:t>
            </a:r>
            <a:endParaRPr lang="en-US"/>
          </a:p>
          <a:p>
            <a:pPr>
              <a:defRPr/>
            </a:pPr>
            <a:r>
              <a:rPr lang="ru-RU"/>
              <a:t>Проверка флага Аутентификация токеном доступа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Программное формирование токена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Можем выдать пользователю токен с помощью объекта платформы </a:t>
            </a:r>
            <a:r>
              <a:rPr lang="ru-RU"/>
              <a:t>ТокенДоступа</a:t>
            </a:r>
            <a:r>
              <a:rPr lang="ru-RU"/>
              <a:t>()</a:t>
            </a:r>
            <a:endParaRPr/>
          </a:p>
          <a:p>
            <a:pPr>
              <a:defRPr/>
            </a:pPr>
            <a:r>
              <a:rPr lang="ru-RU"/>
              <a:t>Нет удобного способа отозвать токен, варианты:</a:t>
            </a:r>
            <a:endParaRPr/>
          </a:p>
          <a:p>
            <a:pPr lvl="1">
              <a:defRPr/>
            </a:pPr>
            <a:r>
              <a:rPr lang="ru-RU"/>
              <a:t>Хранить выданные токены и проверять на уровне прикладного кода по времени выдачи или уникальном ключу</a:t>
            </a:r>
            <a:endParaRPr/>
          </a:p>
          <a:p>
            <a:pPr lvl="1">
              <a:defRPr/>
            </a:pPr>
            <a:r>
              <a:rPr lang="ru-RU"/>
              <a:t>Использовать ключ сопоставления и менять его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Программное формирование токена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КлючПодписи</a:t>
            </a:r>
            <a:r>
              <a:rPr lang="ru-RU" sz="1400" b="1">
                <a:latin typeface="Courier New"/>
                <a:cs typeface="Courier New"/>
              </a:rPr>
              <a:t> = </a:t>
            </a:r>
            <a:r>
              <a:rPr lang="en-US" sz="1400" b="1">
                <a:latin typeface="Courier New"/>
                <a:cs typeface="Courier New"/>
              </a:rPr>
              <a:t>"key"; // </a:t>
            </a:r>
            <a:r>
              <a:rPr lang="ru-RU" sz="1400" b="1">
                <a:latin typeface="Courier New"/>
                <a:cs typeface="Courier New"/>
              </a:rPr>
              <a:t>Секрет, должен храниться безопасно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	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ТокенДоступа</a:t>
            </a:r>
            <a:r>
              <a:rPr lang="ru-RU" sz="1400" b="1">
                <a:latin typeface="Courier New"/>
                <a:cs typeface="Courier New"/>
              </a:rPr>
              <a:t> = Новый </a:t>
            </a:r>
            <a:r>
              <a:rPr lang="ru-RU" sz="1400" b="1">
                <a:latin typeface="Courier New"/>
                <a:cs typeface="Courier New"/>
              </a:rPr>
              <a:t>ТокенДоступа</a:t>
            </a:r>
            <a:r>
              <a:rPr lang="ru-RU" sz="1400" b="1">
                <a:latin typeface="Courier New"/>
                <a:cs typeface="Courier New"/>
              </a:rPr>
              <a:t>();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ТокенДоступа.ВремяЖизни</a:t>
            </a:r>
            <a:r>
              <a:rPr lang="ru-RU" sz="1400" b="1">
                <a:latin typeface="Courier New"/>
                <a:cs typeface="Courier New"/>
              </a:rPr>
              <a:t> = </a:t>
            </a:r>
            <a:r>
              <a:rPr lang="ru-RU" sz="1400" b="1">
                <a:latin typeface="Courier New"/>
                <a:cs typeface="Courier New"/>
              </a:rPr>
              <a:t>СрокЖизни</a:t>
            </a:r>
            <a:r>
              <a:rPr lang="ru-RU" sz="1400" b="1">
                <a:latin typeface="Courier New"/>
                <a:cs typeface="Courier New"/>
              </a:rPr>
              <a:t>;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ТокенДоступа.ВремяСоздания</a:t>
            </a:r>
            <a:r>
              <a:rPr lang="ru-RU" sz="1400" b="1">
                <a:latin typeface="Courier New"/>
                <a:cs typeface="Courier New"/>
              </a:rPr>
              <a:t> = </a:t>
            </a:r>
            <a:r>
              <a:rPr lang="ru-RU" sz="1400" b="1">
                <a:latin typeface="Courier New"/>
                <a:cs typeface="Courier New"/>
              </a:rPr>
              <a:t>ТекущаяУниверсальнаяДата</a:t>
            </a:r>
            <a:r>
              <a:rPr lang="ru-RU" sz="1400" b="1">
                <a:latin typeface="Courier New"/>
                <a:cs typeface="Courier New"/>
              </a:rPr>
              <a:t>() - '19700101';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ТокенДоступа.КлючСопоставленияПользователя</a:t>
            </a:r>
            <a:r>
              <a:rPr lang="ru-RU" sz="1400" b="1">
                <a:latin typeface="Courier New"/>
                <a:cs typeface="Courier New"/>
              </a:rPr>
              <a:t> = "</a:t>
            </a:r>
            <a:r>
              <a:rPr lang="en-US" sz="1400" b="1">
                <a:latin typeface="Courier New"/>
                <a:cs typeface="Courier New"/>
              </a:rPr>
              <a:t>http";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ТокенДоступа.Эмитент</a:t>
            </a:r>
            <a:r>
              <a:rPr lang="ru-RU" sz="1400" b="1">
                <a:latin typeface="Courier New"/>
                <a:cs typeface="Courier New"/>
              </a:rPr>
              <a:t> = "</a:t>
            </a:r>
            <a:r>
              <a:rPr lang="en-US" sz="1400" b="1">
                <a:latin typeface="Courier New"/>
                <a:cs typeface="Courier New"/>
              </a:rPr>
              <a:t>some-system";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ТокенДоступа.Получатели.Добавить</a:t>
            </a:r>
            <a:r>
              <a:rPr lang="ru-RU" sz="1400" b="1">
                <a:latin typeface="Courier New"/>
                <a:cs typeface="Courier New"/>
              </a:rPr>
              <a:t>("</a:t>
            </a:r>
            <a:r>
              <a:rPr lang="en-US" sz="1400" b="1">
                <a:latin typeface="Courier New"/>
                <a:cs typeface="Courier New"/>
              </a:rPr>
              <a:t>demo");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ТокенДоступа.Подписать</a:t>
            </a:r>
            <a:r>
              <a:rPr lang="ru-RU" sz="1400" b="1">
                <a:latin typeface="Courier New"/>
                <a:cs typeface="Courier New"/>
              </a:rPr>
              <a:t>(</a:t>
            </a:r>
            <a:r>
              <a:rPr lang="ru-RU" sz="1400" b="1">
                <a:latin typeface="Courier New"/>
                <a:cs typeface="Courier New"/>
              </a:rPr>
              <a:t>АлгоритмПодписиТокенаДоступа</a:t>
            </a:r>
            <a:r>
              <a:rPr lang="ru-RU" sz="1400" b="1">
                <a:latin typeface="Courier New"/>
                <a:cs typeface="Courier New"/>
              </a:rPr>
              <a:t>.</a:t>
            </a:r>
            <a:r>
              <a:rPr lang="en-US" sz="1400" b="1">
                <a:latin typeface="Courier New"/>
                <a:cs typeface="Courier New"/>
              </a:rPr>
              <a:t>HS256, </a:t>
            </a:r>
            <a:r>
              <a:rPr lang="ru-RU" sz="1400" b="1">
                <a:latin typeface="Courier New"/>
                <a:cs typeface="Courier New"/>
              </a:rPr>
              <a:t>КлючПодписи</a:t>
            </a:r>
            <a:r>
              <a:rPr lang="ru-RU" sz="1400" b="1">
                <a:latin typeface="Courier New"/>
                <a:cs typeface="Courier New"/>
              </a:rPr>
              <a:t>);</a:t>
            </a:r>
            <a:r>
              <a:rPr lang="en-US" sz="1400" b="1">
                <a:latin typeface="Courier New"/>
                <a:cs typeface="Courier New"/>
              </a:rPr>
              <a:t> // </a:t>
            </a:r>
            <a:r>
              <a:rPr lang="ru-RU" sz="1400" b="1">
                <a:latin typeface="Courier New"/>
                <a:cs typeface="Courier New"/>
              </a:rPr>
              <a:t>Симментричное</a:t>
            </a:r>
            <a:endParaRPr lang="ru-RU" sz="1400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	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Токен = Строка(</a:t>
            </a:r>
            <a:r>
              <a:rPr lang="ru-RU" sz="1400" b="1">
                <a:latin typeface="Courier New"/>
                <a:cs typeface="Courier New"/>
              </a:rPr>
              <a:t>ТокенДоступа</a:t>
            </a:r>
            <a:r>
              <a:rPr lang="ru-RU" sz="1400" b="1">
                <a:latin typeface="Courier New"/>
                <a:cs typeface="Courier New"/>
              </a:rPr>
              <a:t>);</a:t>
            </a:r>
            <a:endParaRPr lang="en-US" sz="1400" b="1">
              <a:latin typeface="Courier New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4000"/>
              <a:t>Аутентификация </a:t>
            </a:r>
            <a:r>
              <a:rPr lang="en-US" sz="4000"/>
              <a:t>JWT</a:t>
            </a:r>
            <a:r>
              <a:rPr lang="ru-RU" sz="4000"/>
              <a:t>-токеном</a:t>
            </a:r>
            <a:endParaRPr/>
          </a:p>
        </p:txBody>
      </p:sp>
      <p:pic>
        <p:nvPicPr>
          <p:cNvPr id="7" name="Объект 6" descr="Проектор со сплошной заливкой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4917141" y="2250141"/>
            <a:ext cx="2357718" cy="2357718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Сценарии использования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Обмен с мобильным приложением – первый раз просим указать логин и пароль, остальные запросы выполняем с использованием токена</a:t>
            </a:r>
            <a:endParaRPr/>
          </a:p>
          <a:p>
            <a:pPr>
              <a:defRPr/>
            </a:pPr>
            <a:r>
              <a:rPr lang="ru-RU"/>
              <a:t>Бесшовная интеграция (например – </a:t>
            </a:r>
            <a:r>
              <a:rPr lang="en-US"/>
              <a:t>ERP + </a:t>
            </a:r>
            <a:r>
              <a:rPr lang="ru-RU"/>
              <a:t>ДО) – внешняя система получает токен пользователя и от его имени вызывает другую</a:t>
            </a:r>
            <a:endParaRPr/>
          </a:p>
          <a:p>
            <a:pPr>
              <a:defRPr/>
            </a:pPr>
            <a:r>
              <a:rPr lang="ru-RU"/>
              <a:t>Предоставление доступа внешней системы от имени пользователя только к одному сервису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Выбор способа шифрования токена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Поддерживаются симметричные (</a:t>
            </a:r>
            <a:r>
              <a:rPr lang="en-US"/>
              <a:t>HS256</a:t>
            </a:r>
            <a:r>
              <a:rPr lang="ru-RU"/>
              <a:t>) и асимметричные алгоритмы (</a:t>
            </a:r>
            <a:r>
              <a:rPr lang="en-US"/>
              <a:t>RS256</a:t>
            </a:r>
            <a:r>
              <a:rPr lang="ru-RU"/>
              <a:t>, </a:t>
            </a:r>
            <a:r>
              <a:rPr lang="en-US"/>
              <a:t>ES256</a:t>
            </a:r>
            <a:r>
              <a:rPr lang="ru-RU"/>
              <a:t>)</a:t>
            </a:r>
            <a:endParaRPr/>
          </a:p>
          <a:p>
            <a:pPr>
              <a:defRPr/>
            </a:pPr>
            <a:r>
              <a:rPr lang="ru-RU"/>
              <a:t>Если и </a:t>
            </a:r>
            <a:r>
              <a:rPr lang="ru-RU"/>
              <a:t>эммитер</a:t>
            </a:r>
            <a:r>
              <a:rPr lang="ru-RU"/>
              <a:t> и потребитель расположены в одном контуре – можно использовать симметричное (проще администрировать, выше скорость работы)</a:t>
            </a:r>
            <a:endParaRPr/>
          </a:p>
          <a:p>
            <a:pPr>
              <a:defRPr/>
            </a:pPr>
            <a:r>
              <a:rPr lang="ru-RU"/>
              <a:t>В остальном случае безопаснее использовать асимметричное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Способы поиска пользователя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Кроме логина можно искать пользователя по почте, пользователю ОС или произвольному ключу сопоставления</a:t>
            </a:r>
            <a:endParaRPr/>
          </a:p>
          <a:p>
            <a:pPr>
              <a:defRPr/>
            </a:pPr>
            <a:r>
              <a:rPr lang="ru-RU"/>
              <a:t>Для использования произвольного ключа:</a:t>
            </a:r>
            <a:endParaRPr/>
          </a:p>
          <a:p>
            <a:pPr lvl="1">
              <a:defRPr/>
            </a:pPr>
            <a:r>
              <a:rPr lang="ru-RU"/>
              <a:t>В атрибуте </a:t>
            </a:r>
            <a:r>
              <a:rPr lang="en-US"/>
              <a:t>authenticationUserPropertyName</a:t>
            </a:r>
            <a:r>
              <a:rPr lang="ru-RU"/>
              <a:t> указываем значение </a:t>
            </a:r>
            <a:r>
              <a:rPr lang="en-US"/>
              <a:t>matchingKey</a:t>
            </a:r>
            <a:endParaRPr lang="ru-RU"/>
          </a:p>
          <a:p>
            <a:pPr lvl="1">
              <a:defRPr/>
            </a:pPr>
            <a:r>
              <a:rPr lang="ru-RU"/>
              <a:t>У пользователя ИБ в свойстве </a:t>
            </a:r>
            <a:r>
              <a:rPr lang="ru-RU"/>
              <a:t>КлючиСопоставленияПользователя</a:t>
            </a:r>
            <a:r>
              <a:rPr lang="ru-RU"/>
              <a:t> (соответствие) добавляем запись с </a:t>
            </a:r>
            <a:r>
              <a:rPr lang="ru-RU"/>
              <a:t>ключем</a:t>
            </a:r>
            <a:r>
              <a:rPr lang="ru-RU"/>
              <a:t>, равным </a:t>
            </a:r>
            <a:r>
              <a:rPr lang="ru-RU"/>
              <a:t>эммитеру</a:t>
            </a:r>
            <a:r>
              <a:rPr lang="ru-RU"/>
              <a:t> и необходимым значением (ИНН, СНИЛС, номер телефона, произвольный идентификатор)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Дополнительная информация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Разбор способов аутентификации от Дмитрия Абрамова: </a:t>
            </a:r>
            <a:r>
              <a:rPr lang="en-US" u="sng">
                <a:hlinkClick r:id="rId3" tooltip="https://infostart.ru/1c/articles/2480616/"/>
              </a:rPr>
              <a:t>https://infostart.ru/1c/articles/2480616/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Самостоятельная аутентификация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Если сервис опубликован анонимно, то можно обработать любой ходящий запрос</a:t>
            </a:r>
            <a:endParaRPr/>
          </a:p>
          <a:p>
            <a:pPr>
              <a:defRPr/>
            </a:pPr>
            <a:r>
              <a:rPr lang="ru-RU"/>
              <a:t>При этом сеанс будет от имени служебного пользователя, прописанного в </a:t>
            </a:r>
            <a:r>
              <a:rPr lang="en-US"/>
              <a:t>default.vrd</a:t>
            </a:r>
            <a:endParaRPr lang="en-US"/>
          </a:p>
          <a:p>
            <a:pPr>
              <a:defRPr/>
            </a:pPr>
            <a:r>
              <a:rPr lang="ru-RU"/>
              <a:t>Если фактически через сервис ходят разные пользователи (клиенты, подрядчики, сотрудники) – можно их аутентифицировать через алгоритм на встроенном языке через анализ заголовка запроса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Зачем делать самостоятельную?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Оптимизация – один сеанс под служебным пользователем обслуживает много пользователей с редкими запросами. Например – витрины, мобильные приложения.</a:t>
            </a:r>
            <a:endParaRPr/>
          </a:p>
          <a:p>
            <a:pPr>
              <a:defRPr/>
            </a:pPr>
            <a:r>
              <a:rPr lang="ru-RU"/>
              <a:t>Требование клиентской стороны – передается токен или иной ключ, которые не поддерживается платформой</a:t>
            </a:r>
            <a:endParaRPr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Важно: в этом случае разграничение прав пользователя контролируем самостоятельно.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Ошибки аутентификации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 ошибках в алгоритме аутентификации никогда не выдаем информацию о внутренних ошибках</a:t>
            </a:r>
            <a:endParaRPr/>
          </a:p>
          <a:p>
            <a:pPr>
              <a:defRPr/>
            </a:pPr>
            <a:r>
              <a:rPr lang="ru-RU"/>
              <a:t>Если что-то пошло не так – пользователь не аутентифицирован (401) и все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4000"/>
              <a:t>Самостоятельная аутентификация</a:t>
            </a:r>
            <a:endParaRPr/>
          </a:p>
        </p:txBody>
      </p:sp>
      <p:pic>
        <p:nvPicPr>
          <p:cNvPr id="7" name="Объект 6" descr="Проектор со сплошной заливкой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4917141" y="2250141"/>
            <a:ext cx="2357718" cy="2357718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Распределенные транзакции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Операция, которая изменяет данные не в одной базе данных, а сразу в нескольких независимых сервисах или базах данных.</a:t>
            </a:r>
            <a:endParaRPr/>
          </a:p>
          <a:p>
            <a:pPr>
              <a:defRPr/>
            </a:pPr>
            <a:r>
              <a:rPr lang="ru-RU"/>
              <a:t>При этом необходимо сохранить главное свойство транзакций – атомарность. То есть все изменения должны выполниться успешно, либо ни одного не выполниться.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Двухфазный коммит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Основной способ реализации – двухфазный коммит</a:t>
            </a:r>
            <a:endParaRPr/>
          </a:p>
          <a:p>
            <a:pPr>
              <a:defRPr/>
            </a:pPr>
            <a:r>
              <a:rPr lang="ru-RU"/>
              <a:t>Фаза 1 (Подготовка):</a:t>
            </a:r>
            <a:endParaRPr/>
          </a:p>
          <a:p>
            <a:pPr lvl="1">
              <a:defRPr/>
            </a:pPr>
            <a:r>
              <a:rPr lang="ru-RU"/>
              <a:t>Сервис с роль координатора спрашивает у всех сервисов «Можешь ли сделать это изменение»</a:t>
            </a:r>
            <a:endParaRPr/>
          </a:p>
          <a:p>
            <a:pPr lvl="1">
              <a:defRPr/>
            </a:pPr>
            <a:r>
              <a:rPr lang="ru-RU"/>
              <a:t>Каждый сервис выполняет действие с пометкой «Временно» и отвечает «Да, готов» или «Нет, ошибка»</a:t>
            </a:r>
            <a:endParaRPr/>
          </a:p>
          <a:p>
            <a:pPr>
              <a:defRPr/>
            </a:pPr>
            <a:r>
              <a:rPr lang="ru-RU"/>
              <a:t>Фаза 2 (Фиксация):</a:t>
            </a:r>
            <a:endParaRPr/>
          </a:p>
          <a:p>
            <a:pPr lvl="1">
              <a:defRPr/>
            </a:pPr>
            <a:r>
              <a:rPr lang="ru-RU"/>
              <a:t>Если все ответили «Да» – координатор отправляет всем команду Зафиксировать</a:t>
            </a:r>
            <a:endParaRPr/>
          </a:p>
          <a:p>
            <a:pPr lvl="1">
              <a:defRPr/>
            </a:pPr>
            <a:r>
              <a:rPr lang="ru-RU"/>
              <a:t>Если хоть один ответил «Нет» – координатор говорит всем Откатить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Сложности в реализации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Каждая система должна уметь работать с временными данными (что-то заблокировано, нельзя использовать)</a:t>
            </a:r>
            <a:endParaRPr/>
          </a:p>
          <a:p>
            <a:pPr>
              <a:defRPr/>
            </a:pPr>
            <a:r>
              <a:rPr lang="ru-RU"/>
              <a:t>Медленно – нужно ждать ответа от всех участников</a:t>
            </a:r>
            <a:endParaRPr/>
          </a:p>
          <a:p>
            <a:pPr>
              <a:defRPr/>
            </a:pPr>
            <a:r>
              <a:rPr lang="ru-RU"/>
              <a:t>Если хотя бы один сервис не ответил – операция встает</a:t>
            </a:r>
            <a:endParaRPr/>
          </a:p>
          <a:p>
            <a:pPr>
              <a:defRPr/>
            </a:pPr>
            <a:r>
              <a:rPr lang="ru-RU"/>
              <a:t>Из коробки не встроено во многие технологии</a:t>
            </a:r>
            <a:endParaRPr/>
          </a:p>
          <a:p>
            <a:pPr>
              <a:defRPr/>
            </a:pPr>
            <a:r>
              <a:rPr lang="ru-RU"/>
              <a:t>Лучше стремиться в сторону асинхронного взаимодействия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Альтернатива: компенсирующие </a:t>
            </a:r>
            <a:r>
              <a:rPr lang="ru-RU" sz="3600"/>
              <a:t>траназкции</a:t>
            </a:r>
            <a:endParaRPr lang="en-US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Каждая система выполняет необходимые действия</a:t>
            </a:r>
            <a:endParaRPr/>
          </a:p>
          <a:p>
            <a:pPr>
              <a:defRPr/>
            </a:pPr>
            <a:r>
              <a:rPr lang="ru-RU"/>
              <a:t>Если на каком-то этапе произошла ошибка – те, кто успел выполнить действие их отменяют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Ограничение: невозможно или слишком дорого отменить действие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Накопленные вопросы</a:t>
            </a:r>
            <a:endParaRPr lang="en-US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Пагинация по составному ключу</a:t>
            </a:r>
            <a:endParaRPr/>
          </a:p>
          <a:p>
            <a:pPr>
              <a:defRPr/>
            </a:pPr>
            <a:r>
              <a:rPr lang="ru-RU"/>
              <a:t>Работа с блокировками в </a:t>
            </a:r>
            <a:r>
              <a:rPr lang="en-US"/>
              <a:t>PUT / PATCH</a:t>
            </a:r>
            <a:endParaRPr lang="ru-RU"/>
          </a:p>
          <a:p>
            <a:pPr>
              <a:defRPr/>
            </a:pPr>
            <a:r>
              <a:rPr lang="ru-RU"/>
              <a:t>Универсальный ответ на неподдерживаемые запросы</a:t>
            </a:r>
            <a:endParaRPr/>
          </a:p>
          <a:p>
            <a:pPr>
              <a:defRPr/>
            </a:pPr>
            <a:r>
              <a:rPr lang="ru-RU"/>
              <a:t>Кеширование данных</a:t>
            </a:r>
            <a:endParaRPr/>
          </a:p>
          <a:p>
            <a:pPr>
              <a:defRPr/>
            </a:pPr>
            <a:r>
              <a:rPr lang="ru-RU"/>
              <a:t>Идемпотентность</a:t>
            </a:r>
            <a:endParaRPr/>
          </a:p>
          <a:p>
            <a:pPr>
              <a:defRPr/>
            </a:pPr>
            <a:r>
              <a:rPr lang="ru-RU"/>
              <a:t>Изменение массива объектов с помощью </a:t>
            </a:r>
            <a:r>
              <a:rPr lang="en-US"/>
              <a:t>PATCH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/>
          <p:cNvSpPr/>
          <p:nvPr/>
        </p:nvSpPr>
        <p:spPr bwMode="auto">
          <a:xfrm>
            <a:off x="838198" y="3173506"/>
            <a:ext cx="10515601" cy="1613647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Пагинация по составному ключу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2400"/>
              <a:t>Основная идея – отбор в запросе по равенству и сравнению полей ключа последовательно</a:t>
            </a:r>
            <a:endParaRPr/>
          </a:p>
          <a:p>
            <a:pPr marL="0" indent="0">
              <a:buNone/>
              <a:defRPr/>
            </a:pPr>
            <a:r>
              <a:rPr lang="ru-RU" sz="2400"/>
              <a:t>Если сортировка должна быть не по полю ключа, то сначала поле сортировки, потом поля ключа</a:t>
            </a:r>
            <a:endParaRPr/>
          </a:p>
          <a:p>
            <a:pPr marL="0" indent="0">
              <a:buNone/>
              <a:defRPr/>
            </a:pPr>
            <a:r>
              <a:rPr lang="ru-RU" sz="1400" b="1">
                <a:latin typeface="Courier New"/>
                <a:cs typeface="Courier New"/>
              </a:rPr>
              <a:t>ГДЕ</a:t>
            </a:r>
            <a:r>
              <a:rPr lang="en-US" sz="1400" b="1">
                <a:latin typeface="Courier New"/>
                <a:cs typeface="Courier New"/>
              </a:rPr>
              <a:t> (</a:t>
            </a:r>
            <a:endParaRPr/>
          </a:p>
          <a:p>
            <a:pPr marL="0" indent="0">
              <a:buNone/>
              <a:defRPr/>
            </a:pPr>
            <a:r>
              <a:rPr lang="en-US" sz="1400" b="1">
                <a:latin typeface="Courier New"/>
                <a:cs typeface="Courier New"/>
              </a:rPr>
              <a:t>    </a:t>
            </a:r>
            <a:r>
              <a:rPr lang="ru-RU" sz="1400" b="1">
                <a:latin typeface="Courier New"/>
                <a:cs typeface="Courier New"/>
              </a:rPr>
              <a:t>Период </a:t>
            </a:r>
            <a:r>
              <a:rPr lang="en-US" sz="1400" b="1">
                <a:latin typeface="Courier New"/>
                <a:cs typeface="Courier New"/>
              </a:rPr>
              <a:t>&gt; </a:t>
            </a:r>
            <a:r>
              <a:rPr lang="ru-RU" sz="1400" b="1">
                <a:latin typeface="Courier New"/>
                <a:cs typeface="Courier New"/>
              </a:rPr>
              <a:t>&amp;Период</a:t>
            </a:r>
            <a:endParaRPr lang="en-US" sz="1400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en-US" sz="1400" b="1">
                <a:latin typeface="Courier New"/>
                <a:cs typeface="Courier New"/>
              </a:rPr>
              <a:t>    </a:t>
            </a:r>
            <a:r>
              <a:rPr lang="ru-RU" sz="1400" b="1">
                <a:latin typeface="Courier New"/>
                <a:cs typeface="Courier New"/>
              </a:rPr>
              <a:t>ИЛИ</a:t>
            </a:r>
            <a:r>
              <a:rPr lang="en-US" sz="1400" b="1">
                <a:latin typeface="Courier New"/>
                <a:cs typeface="Courier New"/>
              </a:rPr>
              <a:t> (</a:t>
            </a:r>
            <a:r>
              <a:rPr lang="ru-RU" sz="1400" b="1">
                <a:latin typeface="Courier New"/>
                <a:cs typeface="Courier New"/>
              </a:rPr>
              <a:t>Период </a:t>
            </a:r>
            <a:r>
              <a:rPr lang="en-US" sz="1400" b="1">
                <a:latin typeface="Courier New"/>
                <a:cs typeface="Courier New"/>
              </a:rPr>
              <a:t>= </a:t>
            </a:r>
            <a:r>
              <a:rPr lang="ru-RU" sz="1400" b="1">
                <a:latin typeface="Courier New"/>
                <a:cs typeface="Courier New"/>
              </a:rPr>
              <a:t>&amp;Период И</a:t>
            </a:r>
            <a:r>
              <a:rPr lang="en-US" sz="1400" b="1">
                <a:latin typeface="Courier New"/>
                <a:cs typeface="Courier New"/>
              </a:rPr>
              <a:t> </a:t>
            </a:r>
            <a:r>
              <a:rPr lang="ru-RU" sz="1400" b="1">
                <a:latin typeface="Courier New"/>
                <a:cs typeface="Courier New"/>
              </a:rPr>
              <a:t>Номенклатура </a:t>
            </a:r>
            <a:r>
              <a:rPr lang="en-US" sz="1400" b="1">
                <a:latin typeface="Courier New"/>
                <a:cs typeface="Courier New"/>
              </a:rPr>
              <a:t>&gt; &amp;</a:t>
            </a:r>
            <a:r>
              <a:rPr lang="ru-RU" sz="1400" b="1">
                <a:latin typeface="Courier New"/>
                <a:cs typeface="Courier New"/>
              </a:rPr>
              <a:t>Номенклатура</a:t>
            </a:r>
            <a:r>
              <a:rPr lang="en-US" sz="1400" b="1">
                <a:latin typeface="Courier New"/>
                <a:cs typeface="Courier New"/>
              </a:rPr>
              <a:t>)</a:t>
            </a:r>
            <a:endParaRPr/>
          </a:p>
          <a:p>
            <a:pPr marL="0" indent="0">
              <a:buNone/>
              <a:defRPr/>
            </a:pPr>
            <a:r>
              <a:rPr lang="en-US" sz="1400" b="1">
                <a:latin typeface="Courier New"/>
                <a:cs typeface="Courier New"/>
              </a:rPr>
              <a:t>    </a:t>
            </a:r>
            <a:r>
              <a:rPr lang="ru-RU" sz="1400" b="1">
                <a:latin typeface="Courier New"/>
                <a:cs typeface="Courier New"/>
              </a:rPr>
              <a:t>ИЛИ</a:t>
            </a:r>
            <a:r>
              <a:rPr lang="en-US" sz="1400" b="1">
                <a:latin typeface="Courier New"/>
                <a:cs typeface="Courier New"/>
              </a:rPr>
              <a:t> (</a:t>
            </a:r>
            <a:r>
              <a:rPr lang="ru-RU" sz="1400" b="1">
                <a:latin typeface="Courier New"/>
                <a:cs typeface="Courier New"/>
              </a:rPr>
              <a:t>Период </a:t>
            </a:r>
            <a:r>
              <a:rPr lang="en-US" sz="1400" b="1">
                <a:latin typeface="Courier New"/>
                <a:cs typeface="Courier New"/>
              </a:rPr>
              <a:t>= </a:t>
            </a:r>
            <a:r>
              <a:rPr lang="ru-RU" sz="1400" b="1">
                <a:latin typeface="Courier New"/>
                <a:cs typeface="Courier New"/>
              </a:rPr>
              <a:t>&amp;Период </a:t>
            </a:r>
            <a:r>
              <a:rPr lang="en-US" sz="1400" b="1">
                <a:latin typeface="Courier New"/>
                <a:cs typeface="Courier New"/>
              </a:rPr>
              <a:t>AND </a:t>
            </a:r>
            <a:r>
              <a:rPr lang="ru-RU" sz="1400" b="1">
                <a:latin typeface="Courier New"/>
                <a:cs typeface="Courier New"/>
              </a:rPr>
              <a:t>Номенклатура </a:t>
            </a:r>
            <a:r>
              <a:rPr lang="en-US" sz="1400" b="1">
                <a:latin typeface="Courier New"/>
                <a:cs typeface="Courier New"/>
              </a:rPr>
              <a:t>= &amp;</a:t>
            </a:r>
            <a:r>
              <a:rPr lang="ru-RU" sz="1400" b="1">
                <a:latin typeface="Courier New"/>
                <a:cs typeface="Courier New"/>
              </a:rPr>
              <a:t>Номенклатура </a:t>
            </a:r>
            <a:r>
              <a:rPr lang="en-US" sz="1400" b="1">
                <a:latin typeface="Courier New"/>
                <a:cs typeface="Courier New"/>
              </a:rPr>
              <a:t>AND </a:t>
            </a:r>
            <a:r>
              <a:rPr lang="ru-RU" sz="1400" b="1">
                <a:latin typeface="Courier New"/>
                <a:cs typeface="Courier New"/>
              </a:rPr>
              <a:t>ВидЦены</a:t>
            </a:r>
            <a:r>
              <a:rPr lang="en-US" sz="1400" b="1">
                <a:latin typeface="Courier New"/>
                <a:cs typeface="Courier New"/>
              </a:rPr>
              <a:t> &gt; &amp;</a:t>
            </a:r>
            <a:r>
              <a:rPr lang="ru-RU" sz="1400" b="1">
                <a:latin typeface="Courier New"/>
                <a:cs typeface="Courier New"/>
              </a:rPr>
              <a:t>ВидЦены</a:t>
            </a:r>
            <a:r>
              <a:rPr lang="en-US" sz="1400" b="1">
                <a:latin typeface="Courier New"/>
                <a:cs typeface="Courier New"/>
              </a:rPr>
              <a:t>)</a:t>
            </a:r>
            <a:endParaRPr/>
          </a:p>
          <a:p>
            <a:pPr marL="0" indent="0">
              <a:buNone/>
              <a:defRPr/>
            </a:pPr>
            <a:r>
              <a:rPr lang="en-US" sz="1400" b="1">
                <a:latin typeface="Courier New"/>
                <a:cs typeface="Courier New"/>
              </a:rPr>
              <a:t>)</a:t>
            </a:r>
            <a:endParaRPr lang="ru-RU" sz="1400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ru-RU" sz="2400"/>
              <a:t>Для оптимизации ИЛИ лучше заменить на ОБЪЕДИНИТЬ ВСЕ</a:t>
            </a:r>
            <a:endParaRPr lang="en-US" sz="2400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Работа с блокировками в PUT / PATCH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Если ресурс, который хочет модифицировать клиент заблокирован лучше всего вернуть </a:t>
            </a:r>
            <a:r>
              <a:rPr lang="ru-RU" b="1">
                <a:latin typeface="Courier New"/>
                <a:cs typeface="Courier New"/>
              </a:rPr>
              <a:t>409 </a:t>
            </a:r>
            <a:r>
              <a:rPr lang="en-US" b="1">
                <a:latin typeface="Courier New"/>
                <a:cs typeface="Courier New"/>
              </a:rPr>
              <a:t>Conflict</a:t>
            </a:r>
            <a:endParaRPr/>
          </a:p>
          <a:p>
            <a:pPr marL="0" indent="0">
              <a:buNone/>
              <a:defRPr/>
            </a:pPr>
            <a:r>
              <a:rPr lang="ru-RU"/>
              <a:t>В заголовке указать период разблокировки </a:t>
            </a:r>
            <a:br>
              <a:rPr lang="ru-RU"/>
            </a:br>
            <a:r>
              <a:rPr lang="en-US" b="1">
                <a:latin typeface="Courier New"/>
                <a:cs typeface="Courier New"/>
              </a:rPr>
              <a:t>Retry-After: 300</a:t>
            </a:r>
            <a:endParaRPr lang="ru-RU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endParaRPr lang="ru-RU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ru-RU"/>
              <a:t>Альтернатива – если возможно автоматическое изменение после снятия блокировки ответить </a:t>
            </a:r>
            <a:r>
              <a:rPr lang="ru-RU" b="1">
                <a:latin typeface="Courier New"/>
                <a:cs typeface="Courier New"/>
              </a:rPr>
              <a:t>202 </a:t>
            </a:r>
            <a:r>
              <a:rPr lang="en-US" b="1">
                <a:latin typeface="Courier New"/>
                <a:cs typeface="Courier New"/>
              </a:rPr>
              <a:t>Accepted </a:t>
            </a:r>
            <a:br>
              <a:rPr lang="ru-RU" b="1">
                <a:latin typeface="Courier New"/>
                <a:cs typeface="Courier New"/>
              </a:rPr>
            </a:br>
            <a:r>
              <a:rPr lang="ru-RU"/>
              <a:t>и поставить запрос в очередь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200"/>
              <a:t>Универсальный ответ на неподдерживаемые запросы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2400"/>
              <a:t>Стоит ли делать шаблон «/*» с обработчиком ошибок?</a:t>
            </a:r>
            <a:endParaRPr/>
          </a:p>
          <a:p>
            <a:pPr marL="0" indent="0">
              <a:buNone/>
              <a:defRPr/>
            </a:pPr>
            <a:r>
              <a:rPr lang="ru-RU" sz="2400"/>
              <a:t>Минусы:</a:t>
            </a:r>
            <a:endParaRPr/>
          </a:p>
          <a:p>
            <a:pPr>
              <a:defRPr/>
            </a:pPr>
            <a:r>
              <a:rPr lang="ru-RU" sz="2400"/>
              <a:t>Дополнительная нагрузка на сервер 1С – выполнение прикладного кода требует ресурсов</a:t>
            </a:r>
            <a:endParaRPr/>
          </a:p>
          <a:p>
            <a:pPr marL="0" indent="0">
              <a:buNone/>
              <a:defRPr/>
            </a:pPr>
            <a:r>
              <a:rPr lang="ru-RU" sz="2400"/>
              <a:t>Возможности:</a:t>
            </a:r>
            <a:endParaRPr/>
          </a:p>
          <a:p>
            <a:pPr>
              <a:defRPr/>
            </a:pPr>
            <a:r>
              <a:rPr lang="ru-RU" sz="2400"/>
              <a:t>Переопределить текст 404 ошибки, дать динамическую информацию со ссылкой на документацию</a:t>
            </a:r>
            <a:endParaRPr/>
          </a:p>
          <a:p>
            <a:pPr>
              <a:defRPr/>
            </a:pPr>
            <a:r>
              <a:rPr lang="ru-RU" sz="2400"/>
              <a:t>Собирать информацию на уровне ИБ об ошибочных запросах</a:t>
            </a:r>
            <a:endParaRPr/>
          </a:p>
          <a:p>
            <a:pPr>
              <a:defRPr/>
            </a:pPr>
            <a:r>
              <a:rPr lang="ru-RU" sz="2400"/>
              <a:t>Оптимальнее средствами веб-сервера или промежуточного прокси-сервиса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Кеширование данных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При работе с браузерами кешированием управляют заголовки ответа </a:t>
            </a:r>
            <a:r>
              <a:rPr lang="en-US" b="1">
                <a:latin typeface="Courier New"/>
                <a:cs typeface="Courier New"/>
              </a:rPr>
              <a:t>Cache-Control</a:t>
            </a:r>
            <a:r>
              <a:rPr lang="ru-RU" b="1">
                <a:latin typeface="Courier New"/>
                <a:cs typeface="Courier New"/>
              </a:rPr>
              <a:t> </a:t>
            </a:r>
            <a:r>
              <a:rPr lang="ru-RU"/>
              <a:t>и</a:t>
            </a:r>
            <a:r>
              <a:rPr lang="ru-RU" b="1">
                <a:latin typeface="Courier New"/>
                <a:cs typeface="Courier New"/>
              </a:rPr>
              <a:t> </a:t>
            </a:r>
            <a:r>
              <a:rPr lang="en-US" b="1">
                <a:latin typeface="Courier New"/>
                <a:cs typeface="Courier New"/>
              </a:rPr>
              <a:t>ETag</a:t>
            </a:r>
            <a:r>
              <a:rPr lang="ru-RU" b="1">
                <a:latin typeface="Courier New"/>
                <a:cs typeface="Courier New"/>
              </a:rPr>
              <a:t>, </a:t>
            </a:r>
            <a:r>
              <a:rPr lang="ru-RU"/>
              <a:t>заголовок запроса</a:t>
            </a:r>
            <a:r>
              <a:rPr lang="ru-RU" b="1">
                <a:latin typeface="Courier New"/>
                <a:cs typeface="Courier New"/>
              </a:rPr>
              <a:t> </a:t>
            </a:r>
            <a:r>
              <a:rPr lang="en-US" b="1">
                <a:latin typeface="Courier New"/>
                <a:cs typeface="Courier New"/>
              </a:rPr>
              <a:t>If-None-Match</a:t>
            </a:r>
            <a:endParaRPr lang="ru-RU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endParaRPr lang="ru-RU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ru-RU"/>
              <a:t>Основной сценарий: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Сервер сообщает возможность кеширования ресурса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Клиент кешируют с указанной политикой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Кеширование данных</a:t>
            </a:r>
            <a:endParaRPr/>
          </a:p>
        </p:txBody>
      </p:sp>
      <p:graphicFrame>
        <p:nvGraphicFramePr>
          <p:cNvPr id="4" name="Объект 3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>
          <a:off x="838200" y="2131060"/>
          <a:ext cx="10515600" cy="25958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505199"/>
                <a:gridCol w="5517776"/>
                <a:gridCol w="1492624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Тип ресурса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Рекомендуемый </a:t>
                      </a:r>
                      <a:r>
                        <a:rPr lang="en-US"/>
                        <a:t>Cache-Control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ETag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0" i="0">
                          <a:solidFill>
                            <a:schemeClr val="dk1"/>
                          </a:solidFill>
                          <a:latin typeface="Calibri"/>
                          <a:ea typeface="Arial"/>
                          <a:cs typeface="Arial"/>
                        </a:rPr>
                        <a:t>Статические ресурсы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Calibri"/>
                          <a:ea typeface="Arial"/>
                          <a:cs typeface="Arial"/>
                        </a:rPr>
                        <a:t>public, max-age=31536000, immutable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Справочники (редкие изменения)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Calibri"/>
                          <a:ea typeface="Arial"/>
                          <a:cs typeface="Arial"/>
                        </a:rPr>
                        <a:t>public, max-age=86400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Да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Документы (частое добавление)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Calibri"/>
                          <a:ea typeface="Arial"/>
                          <a:cs typeface="Arial"/>
                        </a:rPr>
                        <a:t>public, max-age=300, stale-while-revalidate=60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Да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Персонализированные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Calibri"/>
                          <a:ea typeface="Arial"/>
                          <a:cs typeface="Arial"/>
                        </a:rPr>
                        <a:t>private, max-age=60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Да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Состояние баланса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Calibri"/>
                          <a:ea typeface="Arial"/>
                          <a:cs typeface="Arial"/>
                        </a:rPr>
                        <a:t>no-store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Поиск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Calibri"/>
                          <a:ea typeface="Arial"/>
                          <a:cs typeface="Arial"/>
                        </a:rPr>
                        <a:t>public, max-age=0, must-revalidate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Кеширование данных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При включении кеширования сервер может передать </a:t>
            </a:r>
            <a:r>
              <a:rPr lang="en-US" b="1">
                <a:latin typeface="Courier New"/>
                <a:cs typeface="Courier New"/>
              </a:rPr>
              <a:t>ETag</a:t>
            </a:r>
            <a:r>
              <a:rPr lang="ru-RU"/>
              <a:t>, в этом случае клиент при повторном запросе ресурса может передать тег в заголовке </a:t>
            </a:r>
            <a:r>
              <a:rPr lang="en-US" b="1">
                <a:latin typeface="Courier New"/>
                <a:cs typeface="Courier New"/>
              </a:rPr>
              <a:t>If-None-Match</a:t>
            </a:r>
            <a:r>
              <a:rPr lang="ru-RU" b="1">
                <a:latin typeface="Courier New"/>
                <a:cs typeface="Courier New"/>
              </a:rPr>
              <a:t> </a:t>
            </a:r>
            <a:r>
              <a:rPr lang="ru-RU"/>
              <a:t>и если ресурс не обновился, то сервер вернет </a:t>
            </a:r>
            <a:r>
              <a:rPr lang="ru-RU" b="1">
                <a:latin typeface="Courier New"/>
                <a:cs typeface="Courier New"/>
              </a:rPr>
              <a:t>304 </a:t>
            </a:r>
            <a:r>
              <a:rPr lang="en-US" b="1">
                <a:latin typeface="Courier New"/>
                <a:cs typeface="Courier New"/>
              </a:rPr>
              <a:t>Not Modified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Идемпотентность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Означает, что повторное выполнение одного и того же запроса несколько раз имеет один и тот же эффект.</a:t>
            </a:r>
            <a:endParaRPr/>
          </a:p>
          <a:p>
            <a:pPr marL="0" indent="0">
              <a:buNone/>
              <a:defRPr/>
            </a:pPr>
            <a:r>
              <a:rPr lang="ru-RU"/>
              <a:t>В рамках архитектурного стиля идемпотентными являются </a:t>
            </a:r>
            <a:r>
              <a:rPr lang="en-US"/>
              <a:t>GET</a:t>
            </a:r>
            <a:r>
              <a:rPr lang="ru-RU"/>
              <a:t>, </a:t>
            </a:r>
            <a:r>
              <a:rPr lang="en-US"/>
              <a:t>PUT</a:t>
            </a:r>
            <a:r>
              <a:rPr lang="ru-RU"/>
              <a:t>, </a:t>
            </a:r>
            <a:r>
              <a:rPr lang="en-US"/>
              <a:t>DELETE</a:t>
            </a:r>
            <a:r>
              <a:rPr lang="ru-RU"/>
              <a:t>, </a:t>
            </a:r>
            <a:r>
              <a:rPr lang="en-US"/>
              <a:t>HEAD</a:t>
            </a:r>
            <a:r>
              <a:rPr lang="ru-RU"/>
              <a:t>, </a:t>
            </a:r>
            <a:r>
              <a:rPr lang="en-US"/>
              <a:t>OPTIONS</a:t>
            </a:r>
            <a:r>
              <a:rPr lang="ru-RU"/>
              <a:t>.</a:t>
            </a:r>
            <a:endParaRPr/>
          </a:p>
          <a:p>
            <a:pPr marL="0" indent="0">
              <a:buNone/>
              <a:defRPr/>
            </a:pPr>
            <a:r>
              <a:rPr lang="ru-RU"/>
              <a:t>Не идемпотентными – </a:t>
            </a:r>
            <a:r>
              <a:rPr lang="en-US"/>
              <a:t>POST</a:t>
            </a:r>
            <a:r>
              <a:rPr lang="ru-RU"/>
              <a:t> и иногда </a:t>
            </a:r>
            <a:r>
              <a:rPr lang="en-US"/>
              <a:t>PATCH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Проблема </a:t>
            </a:r>
            <a:r>
              <a:rPr lang="ru-RU" sz="3600"/>
              <a:t>неидемпотентных</a:t>
            </a:r>
            <a:endParaRPr lang="ru-RU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Клиент хочет отправить одну и только одну СМС через сервер.</a:t>
            </a:r>
            <a:endParaRPr/>
          </a:p>
          <a:p>
            <a:pPr marL="0" indent="0">
              <a:buNone/>
              <a:defRPr/>
            </a:pPr>
            <a:r>
              <a:rPr lang="ru-RU"/>
              <a:t>Из-за сетевых проблем или таймаута клиент может не получить подтверждение отправки при фактически отправленной СМС.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Стандартное решение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Клиент вместе с СМС генерирует уникальный ключ идемпотентности, сохраняет в своей очереди и передает в заголовке </a:t>
            </a:r>
            <a:r>
              <a:rPr lang="en-US" b="1">
                <a:latin typeface="Courier New"/>
                <a:cs typeface="Courier New"/>
              </a:rPr>
              <a:t>Idempotency-Key</a:t>
            </a:r>
            <a:endParaRPr lang="ru-RU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ru-RU"/>
              <a:t>Сервер при получении запроса с этим же ключом не отправляет еще одну СМС (не создает еще один объект в базе данных), а возвращает ранее созданную</a:t>
            </a: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Защита </a:t>
            </a:r>
            <a:r>
              <a:rPr lang="en-US" sz="3600"/>
              <a:t>PUT </a:t>
            </a:r>
            <a:r>
              <a:rPr lang="ru-RU" sz="3600"/>
              <a:t>и </a:t>
            </a:r>
            <a:r>
              <a:rPr lang="en-US" sz="3600"/>
              <a:t>PATCH</a:t>
            </a:r>
            <a:endParaRPr lang="ru-RU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Реализуем схему, аналогичную полю </a:t>
            </a:r>
            <a:r>
              <a:rPr lang="ru-RU"/>
              <a:t>ВерсияДанных</a:t>
            </a:r>
            <a:r>
              <a:rPr lang="ru-RU"/>
              <a:t> в 1С:Предприятии</a:t>
            </a:r>
            <a:endParaRPr/>
          </a:p>
          <a:p>
            <a:pPr marL="0" indent="0">
              <a:buNone/>
              <a:defRPr/>
            </a:pPr>
            <a:r>
              <a:rPr lang="ru-RU"/>
              <a:t>При чтении передаем клиенту версию данных в заголовке </a:t>
            </a:r>
            <a:r>
              <a:rPr lang="en-US" b="1">
                <a:latin typeface="Courier New"/>
                <a:cs typeface="Courier New"/>
              </a:rPr>
              <a:t>ETag</a:t>
            </a:r>
            <a:r>
              <a:rPr lang="en-US"/>
              <a:t> </a:t>
            </a:r>
            <a:endParaRPr/>
          </a:p>
          <a:p>
            <a:pPr marL="0" indent="0">
              <a:buNone/>
              <a:defRPr/>
            </a:pPr>
            <a:r>
              <a:rPr lang="ru-RU"/>
              <a:t>При запросе на модификацию клиент передает этот тег </a:t>
            </a:r>
            <a:br>
              <a:rPr lang="ru-RU"/>
            </a:br>
            <a:r>
              <a:rPr lang="en-US" b="1">
                <a:latin typeface="Courier New"/>
                <a:cs typeface="Courier New"/>
              </a:rPr>
              <a:t>If-None-Match</a:t>
            </a:r>
            <a:r>
              <a:rPr lang="ru-RU"/>
              <a:t>, если ресурс изменился, то модификация отклоняется сервером с кодом </a:t>
            </a:r>
            <a:r>
              <a:rPr lang="en-US" b="1">
                <a:latin typeface="Courier New"/>
                <a:cs typeface="Courier New"/>
              </a:rPr>
              <a:t>412 Precondition Failed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Риск </a:t>
            </a:r>
            <a:r>
              <a:rPr lang="ru-RU" sz="3600"/>
              <a:t>оверинжениринга</a:t>
            </a:r>
            <a:endParaRPr lang="ru-RU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Реализация описанных выше механизмов имеет пользу только после построения модели отказа. То есть нужно явно понимать какие реальные проблемы мы решаем.</a:t>
            </a:r>
            <a:endParaRPr/>
          </a:p>
          <a:p>
            <a:pPr marL="0" indent="0">
              <a:buNone/>
              <a:defRPr/>
            </a:pPr>
            <a:r>
              <a:rPr lang="ru-RU"/>
              <a:t>Без этого велик риск потратить много времени решая несуществующую проблему.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Массовое обновление данных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Стереотипные решения:</a:t>
            </a:r>
            <a:endParaRPr/>
          </a:p>
          <a:p>
            <a:pPr>
              <a:defRPr/>
            </a:pPr>
            <a:r>
              <a:rPr lang="en-US"/>
              <a:t>Batch </a:t>
            </a:r>
            <a:r>
              <a:rPr lang="ru-RU"/>
              <a:t>– пакетный запрос</a:t>
            </a:r>
            <a:endParaRPr/>
          </a:p>
          <a:p>
            <a:pPr>
              <a:defRPr/>
            </a:pPr>
            <a:r>
              <a:rPr lang="en-US"/>
              <a:t>Bulk Update </a:t>
            </a:r>
            <a:r>
              <a:rPr lang="ru-RU"/>
              <a:t>– массовое обновление</a:t>
            </a:r>
            <a:endParaRPr/>
          </a:p>
          <a:p>
            <a:pPr>
              <a:defRPr/>
            </a:pPr>
            <a:r>
              <a:rPr lang="ru-RU"/>
              <a:t>Обновление коллекции с фильтрацией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 sz="3600"/>
              <a:t>Batch – </a:t>
            </a:r>
            <a:r>
              <a:rPr lang="ru-RU" sz="3600"/>
              <a:t>пакетный запрос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POST /</a:t>
            </a:r>
            <a:r>
              <a:rPr lang="en-US" sz="1600" b="1">
                <a:latin typeface="Courier New"/>
                <a:cs typeface="Courier New"/>
              </a:rPr>
              <a:t>api</a:t>
            </a:r>
            <a:r>
              <a:rPr lang="en-US" sz="1600" b="1">
                <a:latin typeface="Courier New"/>
                <a:cs typeface="Courier New"/>
              </a:rPr>
              <a:t>/users/batch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Content-Type: application/</a:t>
            </a:r>
            <a:r>
              <a:rPr lang="en-US" sz="1600" b="1">
                <a:latin typeface="Courier New"/>
                <a:cs typeface="Courier New"/>
              </a:rPr>
              <a:t>json</a:t>
            </a:r>
            <a:endParaRPr lang="en-US" sz="1600" b="1">
              <a:latin typeface="Courier New"/>
              <a:cs typeface="Courier New"/>
            </a:endParaRPr>
          </a:p>
          <a:p>
            <a:pPr>
              <a:defRPr/>
            </a:pPr>
            <a:endParaRPr lang="en-US" sz="1600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{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"operations": [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  {"method": "PATCH", "path": "/users/1", "body": {"name": "John"}},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  {"method": "PATCH", "path": "/users/2", "body": {"email": "new@mail.com"}},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  {"method": "DELETE", "path": "/users/3"}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]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 sz="3600"/>
              <a:t>Bulk Update – </a:t>
            </a:r>
            <a:r>
              <a:rPr lang="ru-RU" sz="3600"/>
              <a:t>массовое обновление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PATCH /</a:t>
            </a:r>
            <a:r>
              <a:rPr lang="en-US" sz="1600" b="1">
                <a:latin typeface="Courier New"/>
                <a:cs typeface="Courier New"/>
              </a:rPr>
              <a:t>api</a:t>
            </a:r>
            <a:r>
              <a:rPr lang="en-US" sz="1600" b="1">
                <a:latin typeface="Courier New"/>
                <a:cs typeface="Courier New"/>
              </a:rPr>
              <a:t>/users/bulk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Content-Type: application/</a:t>
            </a:r>
            <a:r>
              <a:rPr lang="en-US" sz="1600" b="1">
                <a:latin typeface="Courier New"/>
                <a:cs typeface="Courier New"/>
              </a:rPr>
              <a:t>json</a:t>
            </a:r>
            <a:endParaRPr lang="en-US" sz="1600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endParaRPr lang="en-US" sz="1600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{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"updates": [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  {"id": 1, "name": "John", "status": "active"},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  {"id": 2, "email": "new@mail.com"},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  {"id": 3, "role": "admin"}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]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Обновление коллекции с фильтрацией</a:t>
            </a:r>
            <a:endParaRPr lang="en-US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PATCH /</a:t>
            </a:r>
            <a:r>
              <a:rPr lang="en-US" sz="1600" b="1">
                <a:latin typeface="Courier New"/>
                <a:cs typeface="Courier New"/>
              </a:rPr>
              <a:t>api</a:t>
            </a:r>
            <a:r>
              <a:rPr lang="en-US" sz="1600" b="1">
                <a:latin typeface="Courier New"/>
                <a:cs typeface="Courier New"/>
              </a:rPr>
              <a:t>/</a:t>
            </a:r>
            <a:r>
              <a:rPr lang="en-US" sz="1600" b="1">
                <a:latin typeface="Courier New"/>
                <a:cs typeface="Courier New"/>
              </a:rPr>
              <a:t>users?status</a:t>
            </a:r>
            <a:r>
              <a:rPr lang="en-US" sz="1600" b="1">
                <a:latin typeface="Courier New"/>
                <a:cs typeface="Courier New"/>
              </a:rPr>
              <a:t>=inactive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Content-Type: application/</a:t>
            </a:r>
            <a:r>
              <a:rPr lang="en-US" sz="1600" b="1">
                <a:latin typeface="Courier New"/>
                <a:cs typeface="Courier New"/>
              </a:rPr>
              <a:t>json</a:t>
            </a:r>
            <a:endParaRPr lang="en-US" sz="1600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endParaRPr lang="en-US" sz="1600" b="1">
              <a:latin typeface="Courier New"/>
              <a:cs typeface="Courier New"/>
            </a:endParaRPr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{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"status": "active",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  "</a:t>
            </a:r>
            <a:r>
              <a:rPr lang="en-US" sz="1600" b="1">
                <a:latin typeface="Courier New"/>
                <a:cs typeface="Courier New"/>
              </a:rPr>
              <a:t>updated_at</a:t>
            </a:r>
            <a:r>
              <a:rPr lang="en-US" sz="1600" b="1">
                <a:latin typeface="Courier New"/>
                <a:cs typeface="Courier New"/>
              </a:rPr>
              <a:t>": "2024-01-01T00:00:00Z"</a:t>
            </a:r>
            <a:endParaRPr/>
          </a:p>
          <a:p>
            <a:pPr marL="0" indent="0">
              <a:buNone/>
              <a:defRPr/>
            </a:pPr>
            <a:r>
              <a:rPr lang="en-US" sz="1600" b="1">
                <a:latin typeface="Courier New"/>
                <a:cs typeface="Courier New"/>
              </a:rPr>
              <a:t>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Массовое обновление данных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Если запрос может быть выполнен частично, то для частичного успеха возвращаем </a:t>
            </a:r>
            <a:r>
              <a:rPr lang="ru-RU" b="1">
                <a:latin typeface="Courier New"/>
                <a:cs typeface="Courier New"/>
              </a:rPr>
              <a:t>207 </a:t>
            </a:r>
            <a:r>
              <a:rPr lang="en-US" b="1">
                <a:latin typeface="Courier New"/>
                <a:cs typeface="Courier New"/>
              </a:rPr>
              <a:t>Multi-Status</a:t>
            </a:r>
            <a:endParaRPr lang="ru-RU" b="1">
              <a:latin typeface="Courier New"/>
              <a:cs typeface="Courier New"/>
            </a:endParaRPr>
          </a:p>
          <a:p>
            <a:pPr>
              <a:defRPr/>
            </a:pPr>
            <a:r>
              <a:rPr lang="ru-RU"/>
              <a:t>Если необходимо – оборачиваем в транзакцию и обеспечиваем атомарность</a:t>
            </a:r>
            <a:endParaRPr/>
          </a:p>
          <a:p>
            <a:pPr>
              <a:defRPr/>
            </a:pPr>
            <a:r>
              <a:rPr lang="ru-RU"/>
              <a:t>Лимитируем количество объектов в одном запросе, документируем лимиты</a:t>
            </a:r>
            <a:endParaRPr/>
          </a:p>
          <a:p>
            <a:pPr>
              <a:defRPr/>
            </a:pPr>
            <a:r>
              <a:rPr lang="ru-RU"/>
              <a:t>Для больших объемов – асинхронная обработка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Полезные ссылки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187865"/>
            <a:ext cx="10515600" cy="4989098"/>
          </a:xfrm>
        </p:spPr>
        <p:txBody>
          <a:bodyPr/>
          <a:lstStyle/>
          <a:p>
            <a:pPr>
              <a:defRPr/>
            </a:pPr>
            <a:r>
              <a:rPr lang="ru-RU"/>
              <a:t>Открытый пакет интеграций: </a:t>
            </a:r>
            <a:r>
              <a:rPr lang="en-US" u="sng">
                <a:hlinkClick r:id="rId3" tooltip="https://infostart.ru/1c/articles/2016164/"/>
              </a:rPr>
              <a:t>https://infostart.ru/1c/articles/2016164/</a:t>
            </a:r>
            <a:r>
              <a:rPr lang="ru-RU"/>
              <a:t> </a:t>
            </a:r>
            <a:endParaRPr/>
          </a:p>
          <a:p>
            <a:pPr>
              <a:defRPr/>
            </a:pPr>
            <a:r>
              <a:rPr lang="ru-RU"/>
              <a:t>Коннектор: </a:t>
            </a:r>
            <a:r>
              <a:rPr lang="en-US" u="sng">
                <a:hlinkClick r:id="rId4" tooltip="https://github.com/vbondarevsky/Connector"/>
              </a:rPr>
              <a:t>https://github.com/vbondarevsky/Connector</a:t>
            </a:r>
            <a:endParaRPr lang="ru-RU"/>
          </a:p>
          <a:p>
            <a:pPr>
              <a:defRPr/>
            </a:pPr>
            <a:r>
              <a:rPr lang="en-US"/>
              <a:t>YaxUnit</a:t>
            </a:r>
            <a:r>
              <a:rPr lang="en-US"/>
              <a:t>: </a:t>
            </a:r>
            <a:r>
              <a:rPr lang="en-US" u="sng">
                <a:hlinkClick r:id="rId5" tooltip="https://bia-technologies.github.io/yaxunit/"/>
              </a:rPr>
              <a:t>https://bia-technologies.github.io/yaxunit/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Рефлексия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узнали нового?</a:t>
            </a:r>
            <a:endParaRPr/>
          </a:p>
          <a:p>
            <a:pPr>
              <a:defRPr/>
            </a:pPr>
            <a:r>
              <a:rPr lang="ru-RU"/>
              <a:t>Что было самым интересным?</a:t>
            </a:r>
            <a:endParaRPr/>
          </a:p>
          <a:p>
            <a:pPr>
              <a:defRPr/>
            </a:pPr>
            <a:r>
              <a:rPr lang="ru-RU"/>
              <a:t>Какие знания, приемы и методы планируете применить или уже применили в работе?</a:t>
            </a:r>
            <a:endParaRPr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Оставляйте отзывы на сайте </a:t>
            </a:r>
            <a:r>
              <a:rPr lang="ru-RU"/>
              <a:t>учебного центра №1!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Домашнее задание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187865"/>
            <a:ext cx="10515600" cy="4989098"/>
          </a:xfrm>
        </p:spPr>
        <p:txBody>
          <a:bodyPr/>
          <a:lstStyle/>
          <a:p>
            <a:pPr>
              <a:defRPr/>
            </a:pPr>
            <a:r>
              <a:rPr lang="ru-RU"/>
              <a:t>Реализуйте работу тестовой обработки через </a:t>
            </a:r>
            <a:r>
              <a:rPr lang="en-US"/>
              <a:t>JWT-</a:t>
            </a:r>
            <a:r>
              <a:rPr lang="ru-RU"/>
              <a:t>токен</a:t>
            </a:r>
            <a:endParaRPr/>
          </a:p>
          <a:p>
            <a:pPr>
              <a:defRPr/>
            </a:pPr>
            <a:r>
              <a:rPr lang="ru-RU"/>
              <a:t>Сделайте свою реализацию аутентификации по токену и </a:t>
            </a:r>
            <a:r>
              <a:rPr lang="en-US"/>
              <a:t>basic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ONLYOFFICE/7.5.1.23</Application>
  <DocSecurity>0</DocSecurity>
  <PresentationFormat>Широкоэкранный</PresentationFormat>
  <Paragraphs>0</Paragraphs>
  <Slides>51</Slides>
  <Notes>51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Сотрудник 1С</dc:creator>
  <cp:keywords/>
  <dc:description/>
  <dc:identifier/>
  <dc:language/>
  <cp:lastModifiedBy>Аноним</cp:lastModifiedBy>
  <cp:revision>15</cp:revision>
  <dcterms:created xsi:type="dcterms:W3CDTF">2025-03-11T13:04:09Z</dcterms:created>
  <dcterms:modified xsi:type="dcterms:W3CDTF">2026-08-13T10:07:32Z</dcterms:modified>
  <cp:category/>
  <cp:contentStatus/>
  <cp:version/>
</cp:coreProperties>
</file>